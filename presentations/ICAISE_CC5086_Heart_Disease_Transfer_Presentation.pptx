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2fec7903cc418e" /><Relationship Type="http://schemas.openxmlformats.org/officeDocument/2006/relationships/extended-properties" Target="/docProps/app.xml" Id="R47ec6e229c294dcd" /><Relationship Type="http://schemas.openxmlformats.org/officeDocument/2006/relationships/officeDocument" Target="/ppt/presentation.xml" Id="Rd98f1010d2754a7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9481d6c05304ea3"/>
  </p:sldMasterIdLst>
  <p:notesMasterIdLst>
    <p:notesMasterId xmlns:r="http://schemas.openxmlformats.org/officeDocument/2006/relationships" r:id="R9df1cc1180444cbd"/>
  </p:notesMasterIdLst>
  <p:sldIdLst>
    <p:sldId xmlns:r="http://schemas.openxmlformats.org/officeDocument/2006/relationships" id="256" r:id="R88fd75648e934e71"/>
    <p:sldId xmlns:r="http://schemas.openxmlformats.org/officeDocument/2006/relationships" id="257" r:id="Rf898367a1200496f"/>
    <p:sldId xmlns:r="http://schemas.openxmlformats.org/officeDocument/2006/relationships" id="258" r:id="Ra12c38744adc4bb0"/>
    <p:sldId xmlns:r="http://schemas.openxmlformats.org/officeDocument/2006/relationships" id="259" r:id="R3031976cc1a1451b"/>
    <p:sldId xmlns:r="http://schemas.openxmlformats.org/officeDocument/2006/relationships" id="260" r:id="R7574bf4a80f2479f"/>
    <p:sldId xmlns:r="http://schemas.openxmlformats.org/officeDocument/2006/relationships" id="261" r:id="R56d5eb85c5ad4451"/>
    <p:sldId xmlns:r="http://schemas.openxmlformats.org/officeDocument/2006/relationships" id="262" r:id="R7e63d28600ec4534"/>
    <p:sldId xmlns:r="http://schemas.openxmlformats.org/officeDocument/2006/relationships" id="263" r:id="R690019070f5442d1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fe36774cdf58487f"/>
      <p:bold xmlns:r="http://schemas.openxmlformats.org/officeDocument/2006/relationships" r:id="Rea6bc44941044ce5"/>
      <p:italic xmlns:r="http://schemas.openxmlformats.org/officeDocument/2006/relationships" r:id="R11cb4c30be2c493d"/>
      <p:boldItalic xmlns:r="http://schemas.openxmlformats.org/officeDocument/2006/relationships" r:id="Raf66b07451d142e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8fd836d2844ec5" /><Relationship Type="http://schemas.openxmlformats.org/officeDocument/2006/relationships/slideMaster" Target="/ppt/slideMasters/slideMaster1.xml" Id="Rf9481d6c05304ea3" /><Relationship Type="http://schemas.openxmlformats.org/officeDocument/2006/relationships/notesMaster" Target="/ppt/notesMasters/notesMaster1.xml" Id="R9df1cc1180444cbd" /><Relationship Type="http://schemas.openxmlformats.org/officeDocument/2006/relationships/presProps" Target="/ppt/presProps.xml" Id="Ra5ba4bead5ad4194" /><Relationship Type="http://schemas.openxmlformats.org/officeDocument/2006/relationships/viewProps" Target="/ppt/viewProps.xml" Id="Rbb0b3dca5f41483b" /><Relationship Type="http://schemas.openxmlformats.org/officeDocument/2006/relationships/tableStyles" Target="/ppt/tableStyles.xml" Id="R3f77ce23fd1143b9" /><Relationship Type="http://schemas.openxmlformats.org/officeDocument/2006/relationships/font" Target="/ppt/fonts/font.dat" Id="Rfe36774cdf58487f" /><Relationship Type="http://schemas.openxmlformats.org/officeDocument/2006/relationships/font" Target="/ppt/fonts/font2.dat" Id="Rea6bc44941044ce5" /><Relationship Type="http://schemas.openxmlformats.org/officeDocument/2006/relationships/font" Target="/ppt/fonts/font3.dat" Id="R11cb4c30be2c493d" /><Relationship Type="http://schemas.openxmlformats.org/officeDocument/2006/relationships/font" Target="/ppt/fonts/font4.dat" Id="Raf66b07451d142e2" /><Relationship Type="http://schemas.openxmlformats.org/officeDocument/2006/relationships/slide" Target="/ppt/slides/slide1.xml" Id="R88fd75648e934e71" /><Relationship Type="http://schemas.openxmlformats.org/officeDocument/2006/relationships/slide" Target="/ppt/slides/slide2.xml" Id="Rf898367a1200496f" /><Relationship Type="http://schemas.openxmlformats.org/officeDocument/2006/relationships/slide" Target="/ppt/slides/slide3.xml" Id="Ra12c38744adc4bb0" /><Relationship Type="http://schemas.openxmlformats.org/officeDocument/2006/relationships/slide" Target="/ppt/slides/slide4.xml" Id="R3031976cc1a1451b" /><Relationship Type="http://schemas.openxmlformats.org/officeDocument/2006/relationships/slide" Target="/ppt/slides/slide5.xml" Id="R7574bf4a80f2479f" /><Relationship Type="http://schemas.openxmlformats.org/officeDocument/2006/relationships/slide" Target="/ppt/slides/slide6.xml" Id="R56d5eb85c5ad4451" /><Relationship Type="http://schemas.openxmlformats.org/officeDocument/2006/relationships/slide" Target="/ppt/slides/slide7.xml" Id="R7e63d28600ec4534" /><Relationship Type="http://schemas.openxmlformats.org/officeDocument/2006/relationships/slide" Target="/ppt/slides/slide8.xml" Id="R690019070f5442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83e78c18da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232d559ef3480a" /><Relationship Type="http://schemas.openxmlformats.org/officeDocument/2006/relationships/notesMaster" Target="/ppt/notesMasters/notesMaster1.xml" Id="R27d7e1bd369546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9b5d8649594991" /><Relationship Type="http://schemas.openxmlformats.org/officeDocument/2006/relationships/notesMaster" Target="/ppt/notesMasters/notesMaster1.xml" Id="Rdfd309c77fd14e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d4d520082c47ed" /><Relationship Type="http://schemas.openxmlformats.org/officeDocument/2006/relationships/notesMaster" Target="/ppt/notesMasters/notesMaster1.xml" Id="R807314d5a7f240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f7224a09b44a7d" /><Relationship Type="http://schemas.openxmlformats.org/officeDocument/2006/relationships/notesMaster" Target="/ppt/notesMasters/notesMaster1.xml" Id="R50150696edd540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bf22c3ea7d4223" /><Relationship Type="http://schemas.openxmlformats.org/officeDocument/2006/relationships/notesMaster" Target="/ppt/notesMasters/notesMaster1.xml" Id="R3dbdffc1454b4e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81e47bddb54b68" /><Relationship Type="http://schemas.openxmlformats.org/officeDocument/2006/relationships/notesMaster" Target="/ppt/notesMasters/notesMaster1.xml" Id="R70fa28c9e8794f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ba4e7ae43f43b0" /><Relationship Type="http://schemas.openxmlformats.org/officeDocument/2006/relationships/notesMaster" Target="/ppt/notesMasters/notesMaster1.xml" Id="R047832b0738743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6b52b818124265" /><Relationship Type="http://schemas.openxmlformats.org/officeDocument/2006/relationships/notesMaster" Target="/ppt/notesMasters/notesMaster1.xml" Id="R1a235ff4778d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question. The official paper title is: Cross-Hospital Generalization of Heart-Disease Classifiers: A Directed Transfer Analysis on Four UCI Cohorts. Credit every author listed on the slide.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/private/tmp/research-projects-icaise-read/papers/heart-disease-cross-hospital/main.pdf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the problem before introducing models. State the specific research question and the criterion that makes the answer defensible.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/private/tmp/research-projects-icaise-read/papers/heart-disease-cross-hospital/main.pdf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Walk left to right: data, validation boundary, then models or analysis. Emphasize the unit that is held out.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/private/tmp/research-projects-icaise-read/papers/heart-disease-cross-hospital/main.pdf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figure to explain why the study design matters. Describe the visual pattern first, then interpret 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/private/tmp/research-projects-icaise-read/papers/heart-disease-cross-hospital/main.pdf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/private/tmp/research-projects-icaise-read/papers/heart-disease-cross-hospital/figures/fig1_transfer_matrix.pdf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three headline values. Explain the strongest supported claim and avoid turning descriptive differences into stronger causal or statistical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/private/tmp/research-projects-icaise-read/papers/heart-disease-cross-hospital/main.pdf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second figure to connect the numeric result to the paper's central methodological lesson.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/private/tmp/research-projects-icaise-read/papers/heart-disease-cross-hospital/main.pdf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/private/tmp/research-projects-icaise-read/papers/heart-disease-cross-hospital/figures/fig2_generalization_gap.pdf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conclusion in three steps: what we did, what we found, and why the result matters. End with the next experiment or validation step that would strengthen the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/private/tmp/research-projects-icaise-read/papers/heart-disease-cross-hospital/main.pdf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opening question. Summarize what was done, the main finding, and its importance in three short sentences, then invite questions.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/private/tmp/research-projects-icaise-read/papers/heart-disease-cross-hospital/main.pdf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d0d8b5a584c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74bc59cc446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298de4cd343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bca6885444c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b5cc04a314c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3359ff48a44c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ffa31632346e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f50262e324b1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83ba0e77c744a9" /><Relationship Type="http://schemas.openxmlformats.org/officeDocument/2006/relationships/slideLayout" Target="/ppt/slideLayouts/slideLayout1.xml" Id="Rf58cc7b059ef4ef4" /><Relationship Type="http://schemas.openxmlformats.org/officeDocument/2006/relationships/slideLayout" Target="/ppt/slideLayouts/slideLayout2.xml" Id="Ra6f440ffa9a949c1" /><Relationship Type="http://schemas.openxmlformats.org/officeDocument/2006/relationships/slideLayout" Target="/ppt/slideLayouts/slideLayout3.xml" Id="R54a3f5d0ed1540b7" /><Relationship Type="http://schemas.openxmlformats.org/officeDocument/2006/relationships/slideLayout" Target="/ppt/slideLayouts/slideLayout4.xml" Id="R1a87448470684bc9" /><Relationship Type="http://schemas.openxmlformats.org/officeDocument/2006/relationships/slideLayout" Target="/ppt/slideLayouts/slideLayout5.xml" Id="R011890cb26b94b1b" /><Relationship Type="http://schemas.openxmlformats.org/officeDocument/2006/relationships/slideLayout" Target="/ppt/slideLayouts/slideLayout6.xml" Id="R30d05efe62d24c02" /><Relationship Type="http://schemas.openxmlformats.org/officeDocument/2006/relationships/slideLayout" Target="/ppt/slideLayouts/slideLayout7.xml" Id="R480eae77c3874478" /><Relationship Type="http://schemas.openxmlformats.org/officeDocument/2006/relationships/slideLayout" Target="/ppt/slideLayouts/slideLayout8.xml" Id="R6de011e2d9054d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8cc7b059ef4ef4"/>
    <p:sldLayoutId xmlns:r="http://schemas.openxmlformats.org/officeDocument/2006/relationships" id="2147483650" r:id="Ra6f440ffa9a949c1"/>
    <p:sldLayoutId xmlns:r="http://schemas.openxmlformats.org/officeDocument/2006/relationships" id="2147483651" r:id="R54a3f5d0ed1540b7"/>
    <p:sldLayoutId xmlns:r="http://schemas.openxmlformats.org/officeDocument/2006/relationships" id="2147483652" r:id="R1a87448470684bc9"/>
    <p:sldLayoutId xmlns:r="http://schemas.openxmlformats.org/officeDocument/2006/relationships" id="2147483653" r:id="R011890cb26b94b1b"/>
    <p:sldLayoutId xmlns:r="http://schemas.openxmlformats.org/officeDocument/2006/relationships" id="2147483654" r:id="R30d05efe62d24c02"/>
    <p:sldLayoutId xmlns:r="http://schemas.openxmlformats.org/officeDocument/2006/relationships" id="2147483655" r:id="R480eae77c3874478"/>
    <p:sldLayoutId xmlns:r="http://schemas.openxmlformats.org/officeDocument/2006/relationships" id="2147483656" r:id="R6de011e2d9054d75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d808d11904b93" /><Relationship Type="http://schemas.openxmlformats.org/officeDocument/2006/relationships/notesSlide" Target="/ppt/notesSlides/notesSlide1.xml" Id="Ra0ea264a39a24f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918dc50870444a" /><Relationship Type="http://schemas.openxmlformats.org/officeDocument/2006/relationships/notesSlide" Target="/ppt/notesSlides/notesSlide2.xml" Id="R4ad09b223a594e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8da0db1c64464" /><Relationship Type="http://schemas.openxmlformats.org/officeDocument/2006/relationships/notesSlide" Target="/ppt/notesSlides/notesSlide3.xml" Id="R9252015980c644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95dd5cb04469a" /><Relationship Type="http://schemas.openxmlformats.org/officeDocument/2006/relationships/image" Target="/ppt/media/image.png" Id="R2b7864415a6c44ab" /><Relationship Type="http://schemas.openxmlformats.org/officeDocument/2006/relationships/notesSlide" Target="/ppt/notesSlides/notesSlide4.xml" Id="R07b83e72b5f146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c87613c374ac9" /><Relationship Type="http://schemas.openxmlformats.org/officeDocument/2006/relationships/notesSlide" Target="/ppt/notesSlides/notesSlide5.xml" Id="Rffeb8aa223c747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41d98823849f8" /><Relationship Type="http://schemas.openxmlformats.org/officeDocument/2006/relationships/image" Target="/ppt/media/image2.png" Id="Re400c6369a9942fb" /><Relationship Type="http://schemas.openxmlformats.org/officeDocument/2006/relationships/notesSlide" Target="/ppt/notesSlides/notesSlide6.xml" Id="Rd03e2679be764d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cafc1802f453b" /><Relationship Type="http://schemas.openxmlformats.org/officeDocument/2006/relationships/notesSlide" Target="/ppt/notesSlides/notesSlide7.xml" Id="Rfd5992bc1f3c4d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402d2e8494ecf" /><Relationship Type="http://schemas.openxmlformats.org/officeDocument/2006/relationships/notesSlide" Target="/ppt/notesSlides/notesSlide8.xml" Id="Rca8ab362e2d74c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700">
                <a:latin typeface="Helvetica Neue"/>
                <a:ea typeface="Helvetica Neue"/>
                <a:cs typeface="Helvetica Neue"/>
              </a:rPr>
              <a:t>Will a heart-disease model travel to another hospital?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Authors: Anoushka Aisola, Vihaan Bhoopathy, Rayan Hossain, Spoorthi Idumudi, Nethra Kollipara, Rania Malik, Nishant Nayagam, Yukti Srinivas, Srikanth Samy, Ishaan Gupta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250">
                <a:latin typeface="Helvetica Neue"/>
                <a:ea typeface="Helvetica Neue"/>
                <a:cs typeface="Helvetica Neue"/>
              </a:rPr>
              <a:t>ICAISE 2026 · CC5086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The mismatch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A held-out split within one hospital estimates discrimination in that institution—not transport to another population.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What changes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Covariates, disease prevalence, measurement practice, and missingness can all shift across sites.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 sz="1500"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Internal validation is not deployment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Research question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What does the complete directed 4 × 4 transfer matrix reveal that one pooled external AUC hides?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Design question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Does transfer depend more on model family or on the source cohort used for fitting?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 sz="1500"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Treat every hospital pair as a direction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DATA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920 patients from Cleveland, Hungary, Switzerland, and VA. Thirteen candidate variables; nine portable variables for transfer.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VALIDATION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Within-site cross-validation on the diagonal; a source-only fit for every off-diagonal transfer. All adaptation stays inside source data.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MODELS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Logistic regression, random forest, and MLP. Compare the full matrix and the signed macro generalization gap.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 sz="1500"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Transfer is asymmetric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Source quality dominates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Performance varies widely across hospital pairs. Switzerland is a difficult source for linear and neural models, while the random forest is more tolerant of its degenerate distribution.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A single external average erases this structure.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864415a6c44ab"/>
          <a:stretch xmlns:a="http://schemas.openxmlformats.org/drawingml/2006/main"/>
        </p:blipFill>
        <p:spPr>
          <a:xfrm xmlns:a="http://schemas.openxmlformats.org/drawingml/2006/main" flipH="0" flipV="0">
            <a:off x="6269040" y="2226979"/>
            <a:ext cx="5539740" cy="194093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 sz="1500"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One internal AUC hides a wide transfer range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Cleveland internal AUC with all 13 variables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random-forest macro external AUC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range across directed transfers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0.910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8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0.571–0.888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0.781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2100" b="1">
                <a:latin typeface="Helvetica Neue"/>
                <a:ea typeface="Helvetica Neue"/>
                <a:cs typeface="Helvetica Neue"/>
              </a:rPr>
              <a:t>Main result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Cross-hospital performance is heterogeneous rather than uniformly worse. The random forest has the highest macro external AUC, but pair choice dominates the story.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 sz="1500"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A gap statistic can mislead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A scalar can mislead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The random forest has a negative gap: average external AUC exceeds average internal AUC. That does not prove robustness because the two averages cover different estimands.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Report absolute target performance and the full matrix.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0c6369a9942fb"/>
          <a:stretch xmlns:a="http://schemas.openxmlformats.org/drawingml/2006/main"/>
        </p:blipFill>
        <p:spPr>
          <a:xfrm xmlns:a="http://schemas.openxmlformats.org/drawingml/2006/main" flipH="0" flipV="0">
            <a:off x="6269040" y="1579454"/>
            <a:ext cx="5539740" cy="323598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 sz="1500"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Conclusion: the hospital pair is the real unit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latin typeface="Helvetica Neue"/>
                <a:ea typeface="Helvetica Neue"/>
                <a:cs typeface="Helvetica Neue"/>
              </a:rPr>
              <a:t>What we did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FOUND · Transfer ranged from 0.571 to 0.888 AUC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25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We trained three classifiers on each of four UCI hospital cohorts and evaluated every directed source-to-target transfer.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Source cohort mattered more than model family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WHY IT MATTERS · One average hides deployment risk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957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Report the full directional transfer matrix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 not deploy this benchmark model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The hospital pair matters</a:t>
            </a:r>
          </a:p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more than the decimal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Did: tested every directed hospital transfer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Found: transfer ranged from 0.571 to 0.888 AUC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Matters: deployment risk is pair-specific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025">
                <a:latin typeface="Helvetica Neue"/>
                <a:ea typeface="Helvetica Neue"/>
                <a:cs typeface="Helvetica Neue"/>
              </a:rPr>
              <a:t>CC5086 · Questions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2026-08-21T03:36:33.1730000Z</dcterms:created>
  <dcterms:modified xsi:type="dcterms:W3CDTF">2026-08-21T03:36:33.1730000Z</dcterms:modified>
</coreProperties>
</file>