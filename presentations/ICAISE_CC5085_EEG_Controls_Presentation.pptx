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d74a96e94a4b6d" /><Relationship Type="http://schemas.openxmlformats.org/officeDocument/2006/relationships/extended-properties" Target="/docProps/app.xml" Id="R33b29fe9554c4c09" /><Relationship Type="http://schemas.openxmlformats.org/officeDocument/2006/relationships/officeDocument" Target="/ppt/presentation.xml" Id="Rf7a1ea2ed0764236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46e0e9149eb94230"/>
  </p:sldMasterIdLst>
  <p:notesMasterIdLst>
    <p:notesMasterId xmlns:r="http://schemas.openxmlformats.org/officeDocument/2006/relationships" r:id="Rca0485d632734a29"/>
  </p:notesMasterIdLst>
  <p:sldIdLst>
    <p:sldId xmlns:r="http://schemas.openxmlformats.org/officeDocument/2006/relationships" id="256" r:id="Rcf4d68b01ff74f59"/>
    <p:sldId xmlns:r="http://schemas.openxmlformats.org/officeDocument/2006/relationships" id="257" r:id="Rd997cf68f5c74de0"/>
    <p:sldId xmlns:r="http://schemas.openxmlformats.org/officeDocument/2006/relationships" id="258" r:id="R4c3172d96d6443a4"/>
    <p:sldId xmlns:r="http://schemas.openxmlformats.org/officeDocument/2006/relationships" id="259" r:id="R0aaeb57aa7f24190"/>
    <p:sldId xmlns:r="http://schemas.openxmlformats.org/officeDocument/2006/relationships" id="260" r:id="Rec59a562e4ad49f7"/>
    <p:sldId xmlns:r="http://schemas.openxmlformats.org/officeDocument/2006/relationships" id="261" r:id="R61bffdd9860240c8"/>
    <p:sldId xmlns:r="http://schemas.openxmlformats.org/officeDocument/2006/relationships" id="262" r:id="R76eccf65b83648c2"/>
    <p:sldId xmlns:r="http://schemas.openxmlformats.org/officeDocument/2006/relationships" id="263" r:id="Rfe09917f24a649ab"/>
  </p:sldIdLst>
  <p:sldSz cx="12192000" cy="6858000"/>
  <p:notesSz cx="6858000" cy="9144000"/>
  <p:embeddedFontLst>
    <p:embeddedFont>
      <p:font typeface="OpenAI Sans"/>
      <p:regular xmlns:r="http://schemas.openxmlformats.org/officeDocument/2006/relationships" r:id="Rccf069fdf4bf4eff"/>
      <p:bold xmlns:r="http://schemas.openxmlformats.org/officeDocument/2006/relationships" r:id="R2fd972bb34a44719"/>
      <p:italic xmlns:r="http://schemas.openxmlformats.org/officeDocument/2006/relationships" r:id="R99d1ce41c16644f1"/>
      <p:boldItalic xmlns:r="http://schemas.openxmlformats.org/officeDocument/2006/relationships" r:id="R5cb011c4427547e1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39cd4d8b6764ee7" /><Relationship Type="http://schemas.openxmlformats.org/officeDocument/2006/relationships/slideMaster" Target="/ppt/slideMasters/slideMaster1.xml" Id="R46e0e9149eb94230" /><Relationship Type="http://schemas.openxmlformats.org/officeDocument/2006/relationships/notesMaster" Target="/ppt/notesMasters/notesMaster1.xml" Id="Rca0485d632734a29" /><Relationship Type="http://schemas.openxmlformats.org/officeDocument/2006/relationships/presProps" Target="/ppt/presProps.xml" Id="Rdffc81c8bc8e4218" /><Relationship Type="http://schemas.openxmlformats.org/officeDocument/2006/relationships/viewProps" Target="/ppt/viewProps.xml" Id="R827e255bdb3b4c63" /><Relationship Type="http://schemas.openxmlformats.org/officeDocument/2006/relationships/tableStyles" Target="/ppt/tableStyles.xml" Id="Ref6753342efe4823" /><Relationship Type="http://schemas.openxmlformats.org/officeDocument/2006/relationships/font" Target="/ppt/fonts/font.dat" Id="Rccf069fdf4bf4eff" /><Relationship Type="http://schemas.openxmlformats.org/officeDocument/2006/relationships/font" Target="/ppt/fonts/font2.dat" Id="R2fd972bb34a44719" /><Relationship Type="http://schemas.openxmlformats.org/officeDocument/2006/relationships/font" Target="/ppt/fonts/font3.dat" Id="R99d1ce41c16644f1" /><Relationship Type="http://schemas.openxmlformats.org/officeDocument/2006/relationships/font" Target="/ppt/fonts/font4.dat" Id="R5cb011c4427547e1" /><Relationship Type="http://schemas.openxmlformats.org/officeDocument/2006/relationships/slide" Target="/ppt/slides/slide1.xml" Id="Rcf4d68b01ff74f59" /><Relationship Type="http://schemas.openxmlformats.org/officeDocument/2006/relationships/slide" Target="/ppt/slides/slide2.xml" Id="Rd997cf68f5c74de0" /><Relationship Type="http://schemas.openxmlformats.org/officeDocument/2006/relationships/slide" Target="/ppt/slides/slide3.xml" Id="R4c3172d96d6443a4" /><Relationship Type="http://schemas.openxmlformats.org/officeDocument/2006/relationships/slide" Target="/ppt/slides/slide4.xml" Id="R0aaeb57aa7f24190" /><Relationship Type="http://schemas.openxmlformats.org/officeDocument/2006/relationships/slide" Target="/ppt/slides/slide5.xml" Id="Rec59a562e4ad49f7" /><Relationship Type="http://schemas.openxmlformats.org/officeDocument/2006/relationships/slide" Target="/ppt/slides/slide6.xml" Id="R61bffdd9860240c8" /><Relationship Type="http://schemas.openxmlformats.org/officeDocument/2006/relationships/slide" Target="/ppt/slides/slide7.xml" Id="R76eccf65b83648c2" /><Relationship Type="http://schemas.openxmlformats.org/officeDocument/2006/relationships/slide" Target="/ppt/slides/slide8.xml" Id="Rfe09917f24a649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071f7ec31247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cb774c3e28436b" /><Relationship Type="http://schemas.openxmlformats.org/officeDocument/2006/relationships/notesMaster" Target="/ppt/notesMasters/notesMaster1.xml" Id="R37c0fb7c394744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00a92df9d2f4929" /><Relationship Type="http://schemas.openxmlformats.org/officeDocument/2006/relationships/notesMaster" Target="/ppt/notesMasters/notesMaster1.xml" Id="R2fe087a8c7d6432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c4064763474109" /><Relationship Type="http://schemas.openxmlformats.org/officeDocument/2006/relationships/notesMaster" Target="/ppt/notesMasters/notesMaster1.xml" Id="Rabf1aa8aec0442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031a7f432da48ce" /><Relationship Type="http://schemas.openxmlformats.org/officeDocument/2006/relationships/notesMaster" Target="/ppt/notesMasters/notesMaster1.xml" Id="Rb2fe1519aa3646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b300c061035491c" /><Relationship Type="http://schemas.openxmlformats.org/officeDocument/2006/relationships/notesMaster" Target="/ppt/notesMasters/notesMaster1.xml" Id="R1aa83fcb5c5448b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cae0ef0da514093" /><Relationship Type="http://schemas.openxmlformats.org/officeDocument/2006/relationships/notesMaster" Target="/ppt/notesMasters/notesMaster1.xml" Id="Rd15d5a295a4941e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1f98c0e4c6848d0" /><Relationship Type="http://schemas.openxmlformats.org/officeDocument/2006/relationships/notesMaster" Target="/ppt/notesMasters/notesMaster1.xml" Id="Rfcaaa3c0a57c480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4e0b1e2444e402b" /><Relationship Type="http://schemas.openxmlformats.org/officeDocument/2006/relationships/notesMaster" Target="/ppt/notesMasters/notesMaster1.xml" Id="R5a6ac306b5db45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research question. The official paper title is: The Control Is the Instrument: Calibrating Perturbation Tests Used as Evidence That EEG Decoders Read Neural Signal. Credit every author listed on the slide.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/private/tmp/research-projects-icaise-read/papers/eeg-controls-audit/main.pdf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Frame the problem before introducing models. State the specific research question and the criterion that makes the answer defensible.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/private/tmp/research-projects-icaise-read/papers/eeg-controls-audit/main.pdf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Walk left to right: data, validation boundary, then models or analysis. Emphasize the unit that is held out.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/private/tmp/research-projects-icaise-read/papers/eeg-controls-audit/main.pdf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Use the figure to explain why the study design matters. Describe the visual pattern first, then interpret it.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/private/tmp/research-projects-icaise-read/papers/eeg-controls-audit/main.pdf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/private/tmp/research-projects-icaise-read/papers/eeg-controls-audit/figures/fig2_toy_fire_rates.pdf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Pause on the three headline values. Explain the strongest supported claim and avoid turning descriptive differences into stronger causal or statistical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/private/tmp/research-projects-icaise-read/papers/eeg-controls-audit/main.pdf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Use the second figure to connect the numeric result to the paper's central methodological lesson.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/private/tmp/research-projects-icaise-read/papers/eeg-controls-audit/main.pdf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/private/tmp/research-projects-icaise-read/papers/eeg-controls-audit/figures/fig5_real_brain_validation.pdf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State the conclusion in three steps: what we did, what we found, and why the result matters. End with the next experiment or validation step that would strengthen the evidence.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/private/tmp/research-projects-icaise-read/papers/eeg-controls-audit/main.pdf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Return to the opening question. Summarize what was done, the main finding, and its importance in three short sentences, then invite questions.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/private/tmp/research-projects-icaise-read/papers/eeg-controls-audit/main.pdf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0d1303c5344cf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173b9b6f05468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5cd28451c9417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5ccd9d3821449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c7fb23161f41a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c0bb274bbf423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04b807f81b427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0fb0baad024c02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4b3ae5d96043ae" /><Relationship Type="http://schemas.openxmlformats.org/officeDocument/2006/relationships/slideLayout" Target="/ppt/slideLayouts/slideLayout1.xml" Id="Rd2ae7857dd7448ff" /><Relationship Type="http://schemas.openxmlformats.org/officeDocument/2006/relationships/slideLayout" Target="/ppt/slideLayouts/slideLayout2.xml" Id="R52d135b495604e5d" /><Relationship Type="http://schemas.openxmlformats.org/officeDocument/2006/relationships/slideLayout" Target="/ppt/slideLayouts/slideLayout3.xml" Id="R139507d425fe471c" /><Relationship Type="http://schemas.openxmlformats.org/officeDocument/2006/relationships/slideLayout" Target="/ppt/slideLayouts/slideLayout4.xml" Id="R8fbe2009849240da" /><Relationship Type="http://schemas.openxmlformats.org/officeDocument/2006/relationships/slideLayout" Target="/ppt/slideLayouts/slideLayout5.xml" Id="R55332b420b644ccb" /><Relationship Type="http://schemas.openxmlformats.org/officeDocument/2006/relationships/slideLayout" Target="/ppt/slideLayouts/slideLayout6.xml" Id="R0a5076b437504ec7" /><Relationship Type="http://schemas.openxmlformats.org/officeDocument/2006/relationships/slideLayout" Target="/ppt/slideLayouts/slideLayout7.xml" Id="Rc534ca76b11944b9" /><Relationship Type="http://schemas.openxmlformats.org/officeDocument/2006/relationships/slideLayout" Target="/ppt/slideLayouts/slideLayout8.xml" Id="R8ee9075469f946d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ae7857dd7448ff"/>
    <p:sldLayoutId xmlns:r="http://schemas.openxmlformats.org/officeDocument/2006/relationships" id="2147483650" r:id="R52d135b495604e5d"/>
    <p:sldLayoutId xmlns:r="http://schemas.openxmlformats.org/officeDocument/2006/relationships" id="2147483651" r:id="R139507d425fe471c"/>
    <p:sldLayoutId xmlns:r="http://schemas.openxmlformats.org/officeDocument/2006/relationships" id="2147483652" r:id="R8fbe2009849240da"/>
    <p:sldLayoutId xmlns:r="http://schemas.openxmlformats.org/officeDocument/2006/relationships" id="2147483653" r:id="R55332b420b644ccb"/>
    <p:sldLayoutId xmlns:r="http://schemas.openxmlformats.org/officeDocument/2006/relationships" id="2147483654" r:id="R0a5076b437504ec7"/>
    <p:sldLayoutId xmlns:r="http://schemas.openxmlformats.org/officeDocument/2006/relationships" id="2147483655" r:id="Rc534ca76b11944b9"/>
    <p:sldLayoutId xmlns:r="http://schemas.openxmlformats.org/officeDocument/2006/relationships" id="2147483656" r:id="R8ee9075469f946d2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b1364426d041a7" /><Relationship Type="http://schemas.openxmlformats.org/officeDocument/2006/relationships/notesSlide" Target="/ppt/notesSlides/notesSlide1.xml" Id="Rf8fb7bcd68c549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a0ca956e444aa4" /><Relationship Type="http://schemas.openxmlformats.org/officeDocument/2006/relationships/notesSlide" Target="/ppt/notesSlides/notesSlide2.xml" Id="R20854cb1d0bb42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496c257a724be1" /><Relationship Type="http://schemas.openxmlformats.org/officeDocument/2006/relationships/notesSlide" Target="/ppt/notesSlides/notesSlide3.xml" Id="R4ca517304eb547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842eab0091453b" /><Relationship Type="http://schemas.openxmlformats.org/officeDocument/2006/relationships/image" Target="/ppt/media/image.png" Id="Rc93474bfbec44daf" /><Relationship Type="http://schemas.openxmlformats.org/officeDocument/2006/relationships/notesSlide" Target="/ppt/notesSlides/notesSlide4.xml" Id="Rb9c745537a934e3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70533c789d4780" /><Relationship Type="http://schemas.openxmlformats.org/officeDocument/2006/relationships/notesSlide" Target="/ppt/notesSlides/notesSlide5.xml" Id="R583f7305897c48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da33adcba94987" /><Relationship Type="http://schemas.openxmlformats.org/officeDocument/2006/relationships/image" Target="/ppt/media/image2.png" Id="R34b13984b7604aea" /><Relationship Type="http://schemas.openxmlformats.org/officeDocument/2006/relationships/notesSlide" Target="/ppt/notesSlides/notesSlide6.xml" Id="Raf1f78a37c2a41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9242805baf462e" /><Relationship Type="http://schemas.openxmlformats.org/officeDocument/2006/relationships/notesSlide" Target="/ppt/notesSlides/notesSlide7.xml" Id="R110fcd9abd2e4ae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224010a8bc4ca6" /><Relationship Type="http://schemas.openxmlformats.org/officeDocument/2006/relationships/notesSlide" Target="/ppt/notesSlides/notesSlide8.xml" Id="R9b8d37279f584e9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738755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5700">
                <a:latin typeface="Helvetica Neue"/>
                <a:ea typeface="Helvetica Neue"/>
                <a:cs typeface="Helvetica Neue"/>
              </a:rPr>
              <a:t>Do EEG perturbation controls measure what we think?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283B85AD-626B-46B7-0C36-31F5BABDE10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742208"/>
            <a:ext cx="5702301" cy="10802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350">
                <a:latin typeface="Helvetica Neue"/>
                <a:ea typeface="Helvetica Neue"/>
                <a:cs typeface="Helvetica Neue"/>
              </a:rPr>
              <a:t>Authors: Isha Gupta, Ishaan Mohandas, Ashwath Raghu, Jake Rajbhandari, Anya Samuel, Riva Sheth, Mridhula Suresh, Srikanth Samy, Ishaan Gupta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57023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2250">
                <a:latin typeface="Helvetica Neue"/>
                <a:ea typeface="Helvetica Neue"/>
                <a:cs typeface="Helvetica Neue"/>
              </a:rPr>
              <a:t>ICAISE 2026 · CC5085</a:t>
            </a:r>
          </a:p>
        </p:txBody>
      </p:sp>
    </p:spTree>
    <p:extLst>
      <p:ext uri="{BB962C8B-B14F-4D97-AF65-F5344CB8AC3E}">
        <p14:creationId xmlns:p14="http://schemas.microsoft.com/office/powerpoint/2010/main" val="32587833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1838848"/>
            <a:ext cx="5533190" cy="4155552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4"/>
              </a:spcAft>
            </a:pPr>
            <a:r>
              <a:rPr sz="1875" b="1">
                <a:latin typeface="Helvetica Neue"/>
                <a:ea typeface="Helvetica Neue"/>
                <a:cs typeface="Helvetica Neue"/>
              </a:rPr>
              <a:t>The usual claim</a:t>
            </a:r>
          </a:p>
          <a:p xmlns:a="http://schemas.openxmlformats.org/drawingml/2006/main">
            <a:pPr>
              <a:spcAft>
                <a:spcPts val="12"/>
              </a:spcAft>
            </a:pPr>
            <a:r>
              <a:rPr sz="1650">
                <a:latin typeface="Helvetica Neue"/>
                <a:ea typeface="Helvetica Neue"/>
                <a:cs typeface="Helvetica Neue"/>
              </a:rPr>
              <a:t>Remove the μ band, observe an accuracy drop, and conclude that the decoder uses sensorimotor rhythm.</a:t>
            </a:r>
          </a:p>
          <a:p xmlns:a="http://schemas.openxmlformats.org/drawingml/2006/main">
            <a:pPr>
              <a:spcAft>
                <a:spcPts val="4"/>
              </a:spcAft>
            </a:pPr>
            <a:r>
              <a:rPr sz="1875" b="1">
                <a:latin typeface="Helvetica Neue"/>
                <a:ea typeface="Helvetica Neue"/>
                <a:cs typeface="Helvetica Neue"/>
              </a:rPr>
              <a:t>The missing number</a:t>
            </a:r>
          </a:p>
          <a:p xmlns:a="http://schemas.openxmlformats.org/drawingml/2006/main">
            <a:pPr>
              <a:spcAft>
                <a:spcPts val="12"/>
              </a:spcAft>
            </a:pPr>
            <a:r>
              <a:rPr sz="1650">
                <a:latin typeface="Helvetica Neue"/>
                <a:ea typeface="Helvetica Neue"/>
                <a:cs typeface="Helvetica Neue"/>
              </a:rPr>
              <a:t>That conclusion is valid only if the same perturbation rarely fires when the targeted dependence is absent.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2598689-54C9-18A7-3A19-ED76AA08988F}" type="slidenum">
              <a:rPr sz="1500">
                <a:latin typeface="Helvetica Neue"/>
                <a:ea typeface="Helvetica Neue"/>
                <a:cs typeface="Helvetica Neue"/>
              </a:rPr>
              <a:t>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2900">
                <a:latin typeface="Helvetica Neue"/>
                <a:ea typeface="Helvetica Neue"/>
                <a:cs typeface="Helvetica Neue"/>
              </a:rPr>
              <a:t>A control is a measuring instrument</a:t>
            </a:r>
          </a:p>
        </p:txBody>
      </p:sp>
      <p:sp>
        <p:nvSpPr>
          <p:cNvPr id="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111" y="2192694"/>
            <a:ext cx="5537200" cy="38017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Aft>
                <a:spcPts val="4"/>
              </a:spcAft>
            </a:pPr>
            <a:r>
              <a:rPr sz="1875" b="1">
                <a:latin typeface="Helvetica Neue"/>
                <a:ea typeface="Helvetica Neue"/>
                <a:cs typeface="Helvetica Neue"/>
              </a:rPr>
              <a:t>Research question</a:t>
            </a:r>
          </a:p>
          <a:p xmlns:a="http://schemas.openxmlformats.org/drawingml/2006/main">
            <a:pPr>
              <a:spcAft>
                <a:spcPts val="12"/>
              </a:spcAft>
            </a:pPr>
            <a:r>
              <a:rPr sz="1650">
                <a:latin typeface="Helvetica Neue"/>
                <a:ea typeface="Helvetica Neue"/>
                <a:cs typeface="Helvetica Neue"/>
              </a:rPr>
              <a:t>What are the sensitivity and false-alarm rate of each perturbation control for each decoder family?</a:t>
            </a:r>
          </a:p>
          <a:p xmlns:a="http://schemas.openxmlformats.org/drawingml/2006/main">
            <a:pPr>
              <a:spcAft>
                <a:spcPts val="4"/>
              </a:spcAft>
            </a:pPr>
            <a:r>
              <a:rPr sz="1875" b="1">
                <a:latin typeface="Helvetica Neue"/>
                <a:ea typeface="Helvetica Neue"/>
                <a:cs typeface="Helvetica Neue"/>
              </a:rPr>
              <a:t>Ground truth strategy</a:t>
            </a:r>
          </a:p>
          <a:p xmlns:a="http://schemas.openxmlformats.org/drawingml/2006/main">
            <a:pPr>
              <a:spcAft>
                <a:spcPts val="12"/>
              </a:spcAft>
            </a:pPr>
            <a:r>
              <a:rPr sz="1650">
                <a:latin typeface="Helvetica Neue"/>
                <a:ea typeface="Helvetica Neue"/>
                <a:cs typeface="Helvetica Neue"/>
              </a:rPr>
              <a:t>Plant the signal in simulation, then corroborate specificity on a real eyes-open versus eyes-closed task with known occipital-alpha physiology.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3B21B056-C0DC-9927-7975-E8A8720D325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202359C0-8A7A-196E-DD58-8E6569619F09}" type="slidenum">
              <a:rPr sz="1500">
                <a:latin typeface="Helvetica Neue"/>
                <a:ea typeface="Helvetica Neue"/>
                <a:cs typeface="Helvetica Neue"/>
              </a:rPr>
              <a:t>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62D86C57-5A36-A9CA-FBAE-7FD6A93121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2900">
                <a:latin typeface="Helvetica Neue"/>
                <a:ea typeface="Helvetica Neue"/>
                <a:cs typeface="Helvetica Neue"/>
              </a:rPr>
              <a:t>Calibrate controls against known truth</a:t>
            </a:r>
          </a:p>
        </p:txBody>
      </p:sp>
      <p:sp>
        <p:nvSpPr>
          <p:cNvPr id="5" name="Google Shape;558;p61">
            <a:extLst xmlns:a="http://schemas.openxmlformats.org/drawingml/2006/main">
              <a:ext uri="{FF2B5EF4-FFF2-40B4-BE49-F238E27FC236}">
                <a16:creationId xmlns:a16="http://schemas.microsoft.com/office/drawing/2014/main" id="{CF52371F-8816-97E4-7F6A-234DB3FE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Aft>
                <a:spcPts val="4"/>
              </a:spcAft>
            </a:pPr>
            <a:r>
              <a:rPr sz="1875" b="1">
                <a:latin typeface="Helvetica Neue"/>
                <a:ea typeface="Helvetica Neue"/>
                <a:cs typeface="Helvetica Neue"/>
              </a:rPr>
              <a:t>DATA</a:t>
            </a:r>
          </a:p>
          <a:p xmlns:a="http://schemas.openxmlformats.org/drawingml/2006/main">
            <a:pPr>
              <a:spcAft>
                <a:spcPts val="12"/>
              </a:spcAft>
            </a:pPr>
            <a:r>
              <a:rPr sz="1575">
                <a:latin typeface="Helvetica Neue"/>
                <a:ea typeface="Helvetica Neue"/>
                <a:cs typeface="Helvetica Neue"/>
              </a:rPr>
              <a:t>A planted-signal EEG simulator, a 30-dataset minimal replication, PhysioNet motor imagery, and 34-subject eyes-open/closed EEG.</a:t>
            </a:r>
          </a:p>
        </p:txBody>
      </p:sp>
      <p:sp>
        <p:nvSpPr>
          <p:cNvPr id="6" name="Google Shape;559;p61">
            <a:extLst xmlns:a="http://schemas.openxmlformats.org/drawingml/2006/main">
              <a:ext uri="{FF2B5EF4-FFF2-40B4-BE49-F238E27FC236}">
                <a16:creationId xmlns:a16="http://schemas.microsoft.com/office/drawing/2014/main" id="{B35EA25F-F28D-25C7-A5DF-16A7EADF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Aft>
                <a:spcPts val="4"/>
              </a:spcAft>
            </a:pPr>
            <a:r>
              <a:rPr sz="1875" b="1">
                <a:latin typeface="Helvetica Neue"/>
                <a:ea typeface="Helvetica Neue"/>
                <a:cs typeface="Helvetica Neue"/>
              </a:rPr>
              <a:t>CALIBRATION</a:t>
            </a:r>
          </a:p>
          <a:p xmlns:a="http://schemas.openxmlformats.org/drawingml/2006/main">
            <a:pPr>
              <a:spcAft>
                <a:spcPts val="12"/>
              </a:spcAft>
            </a:pPr>
            <a:r>
              <a:rPr sz="1575">
                <a:latin typeface="Helvetica Neue"/>
                <a:ea typeface="Helvetica Neue"/>
                <a:cs typeface="Helvetica Neue"/>
              </a:rPr>
              <a:t>Measure whether each control fires when its target is present and when it is absent; sweep firing thresholds in the replication.</a:t>
            </a:r>
          </a:p>
        </p:txBody>
      </p:sp>
      <p:sp>
        <p:nvSpPr>
          <p:cNvPr id="7" name="Google Shape;560;p61">
            <a:extLst xmlns:a="http://schemas.openxmlformats.org/drawingml/2006/main">
              <a:ext uri="{FF2B5EF4-FFF2-40B4-BE49-F238E27FC236}">
                <a16:creationId xmlns:a16="http://schemas.microsoft.com/office/drawing/2014/main" id="{6E61CDC3-05E3-B689-0BCE-9014DDCB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73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Aft>
                <a:spcPts val="4"/>
              </a:spcAft>
            </a:pPr>
            <a:r>
              <a:rPr sz="1875" b="1">
                <a:latin typeface="Helvetica Neue"/>
                <a:ea typeface="Helvetica Neue"/>
                <a:cs typeface="Helvetica Neue"/>
              </a:rPr>
              <a:t>DECODERS</a:t>
            </a:r>
          </a:p>
          <a:p xmlns:a="http://schemas.openxmlformats.org/drawingml/2006/main">
            <a:pPr>
              <a:spcAft>
                <a:spcPts val="12"/>
              </a:spcAft>
            </a:pPr>
            <a:r>
              <a:rPr sz="1575">
                <a:latin typeface="Helvetica Neue"/>
                <a:ea typeface="Helvetica Neue"/>
                <a:cs typeface="Helvetica Neue"/>
              </a:rPr>
              <a:t>Band-power/logistic, CSP/LDA, random forest, and EEGNet—representations and model classes with different failure modes.</a:t>
            </a:r>
          </a:p>
        </p:txBody>
      </p:sp>
      <p:sp>
        <p:nvSpPr>
          <p:cNvPr id="8" name="Google Shape;561;p61">
            <a:extLst xmlns:a="http://schemas.openxmlformats.org/drawingml/2006/main">
              <a:ext uri="{FF2B5EF4-FFF2-40B4-BE49-F238E27FC236}">
                <a16:creationId xmlns:a16="http://schemas.microsoft.com/office/drawing/2014/main" id="{2E9332F7-1AC8-A3A0-635E-D70D0C3E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4" y="3382303"/>
            <a:ext cx="315580" cy="353873"/>
          </a:xfrm>
          <a:custGeom xmlns:a="http://schemas.openxmlformats.org/drawingml/2006/main">
            <a:rect l="l" t="t" r="r" b="b"/>
            <a:pathLst>
              <a:path w="20236" h="20115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  <a:endParaRPr sz="43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Google Shape;562;p61">
            <a:extLst xmlns:a="http://schemas.openxmlformats.org/drawingml/2006/main">
              <a:ext uri="{FF2B5EF4-FFF2-40B4-BE49-F238E27FC236}">
                <a16:creationId xmlns:a16="http://schemas.microsoft.com/office/drawing/2014/main" id="{1F6EAF7D-166C-52A8-35F4-18CE1043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98" y="3378212"/>
            <a:ext cx="327078" cy="362074"/>
          </a:xfrm>
          <a:custGeom xmlns:a="http://schemas.openxmlformats.org/drawingml/2006/main">
            <a:rect l="l" t="t" r="r" b="b"/>
            <a:pathLst>
              <a:path w="21600" h="21333">
                <a:moveTo>
                  <a:pt x="11359" y="2130"/>
                </a:moveTo>
                <a:cubicBezTo>
                  <a:pt x="11014" y="1951"/>
                  <a:pt x="10588" y="1951"/>
                  <a:pt x="10241" y="2130"/>
                </a:cubicBezTo>
                <a:lnTo>
                  <a:pt x="3250" y="5732"/>
                </a:lnTo>
                <a:lnTo>
                  <a:pt x="10817" y="9530"/>
                </a:lnTo>
                <a:lnTo>
                  <a:pt x="18593" y="5856"/>
                </a:lnTo>
                <a:lnTo>
                  <a:pt x="11359" y="2130"/>
                </a:lnTo>
                <a:close/>
                <a:moveTo>
                  <a:pt x="19364" y="7749"/>
                </a:moveTo>
                <a:lnTo>
                  <a:pt x="11918" y="11267"/>
                </a:lnTo>
                <a:lnTo>
                  <a:pt x="11918" y="18916"/>
                </a:lnTo>
                <a:lnTo>
                  <a:pt x="18805" y="15367"/>
                </a:lnTo>
                <a:cubicBezTo>
                  <a:pt x="19152" y="15189"/>
                  <a:pt x="19364" y="14860"/>
                  <a:pt x="19364" y="14503"/>
                </a:cubicBezTo>
                <a:lnTo>
                  <a:pt x="19364" y="7749"/>
                </a:lnTo>
                <a:close/>
                <a:moveTo>
                  <a:pt x="9682" y="18916"/>
                </a:moveTo>
                <a:lnTo>
                  <a:pt x="9682" y="11250"/>
                </a:lnTo>
                <a:lnTo>
                  <a:pt x="2236" y="7513"/>
                </a:lnTo>
                <a:lnTo>
                  <a:pt x="2236" y="14503"/>
                </a:lnTo>
                <a:cubicBezTo>
                  <a:pt x="2236" y="14860"/>
                  <a:pt x="2448" y="15189"/>
                  <a:pt x="2795" y="15367"/>
                </a:cubicBezTo>
                <a:lnTo>
                  <a:pt x="9682" y="18916"/>
                </a:lnTo>
                <a:close/>
                <a:moveTo>
                  <a:pt x="9123" y="401"/>
                </a:moveTo>
                <a:cubicBezTo>
                  <a:pt x="10160" y="-133"/>
                  <a:pt x="11440" y="-133"/>
                  <a:pt x="12477" y="401"/>
                </a:cubicBezTo>
                <a:lnTo>
                  <a:pt x="19923" y="4238"/>
                </a:lnTo>
                <a:cubicBezTo>
                  <a:pt x="20962" y="4773"/>
                  <a:pt x="21600" y="5761"/>
                  <a:pt x="21600" y="6830"/>
                </a:cubicBezTo>
                <a:lnTo>
                  <a:pt x="21600" y="14503"/>
                </a:lnTo>
                <a:cubicBezTo>
                  <a:pt x="21600" y="15572"/>
                  <a:pt x="20962" y="16561"/>
                  <a:pt x="19923" y="17096"/>
                </a:cubicBezTo>
                <a:lnTo>
                  <a:pt x="12477" y="20932"/>
                </a:lnTo>
                <a:cubicBezTo>
                  <a:pt x="11440" y="21467"/>
                  <a:pt x="10160" y="21467"/>
                  <a:pt x="9123" y="20932"/>
                </a:cubicBezTo>
                <a:lnTo>
                  <a:pt x="1677" y="17096"/>
                </a:lnTo>
                <a:cubicBezTo>
                  <a:pt x="640" y="16561"/>
                  <a:pt x="0" y="15572"/>
                  <a:pt x="0" y="14503"/>
                </a:cubicBezTo>
                <a:lnTo>
                  <a:pt x="0" y="6830"/>
                </a:lnTo>
                <a:cubicBezTo>
                  <a:pt x="0" y="5761"/>
                  <a:pt x="640" y="4773"/>
                  <a:pt x="1677" y="4238"/>
                </a:cubicBezTo>
                <a:lnTo>
                  <a:pt x="9123" y="4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  <a:endParaRPr sz="43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0" name="Google Shape;563;p61">
            <a:extLst xmlns:a="http://schemas.openxmlformats.org/drawingml/2006/main">
              <a:ext uri="{FF2B5EF4-FFF2-40B4-BE49-F238E27FC236}">
                <a16:creationId xmlns:a16="http://schemas.microsoft.com/office/drawing/2014/main" id="{56E3A8EC-7B67-B778-5CC6-BC028292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597" y="3406849"/>
            <a:ext cx="338580" cy="270918"/>
          </a:xfrm>
          <a:custGeom xmlns:a="http://schemas.openxmlformats.org/drawingml/2006/main">
            <a:rect l="l" t="t" r="r" b="b"/>
            <a:pathLst>
              <a:path w="21600" h="21600">
                <a:moveTo>
                  <a:pt x="6220" y="0"/>
                </a:moveTo>
                <a:lnTo>
                  <a:pt x="15380" y="0"/>
                </a:lnTo>
                <a:cubicBezTo>
                  <a:pt x="16250" y="0"/>
                  <a:pt x="16968" y="0"/>
                  <a:pt x="17552" y="59"/>
                </a:cubicBezTo>
                <a:cubicBezTo>
                  <a:pt x="18159" y="122"/>
                  <a:pt x="18717" y="255"/>
                  <a:pt x="19241" y="589"/>
                </a:cubicBezTo>
                <a:cubicBezTo>
                  <a:pt x="20055" y="1106"/>
                  <a:pt x="20715" y="1932"/>
                  <a:pt x="21129" y="2948"/>
                </a:cubicBezTo>
                <a:cubicBezTo>
                  <a:pt x="21396" y="3603"/>
                  <a:pt x="21503" y="4301"/>
                  <a:pt x="21552" y="5060"/>
                </a:cubicBezTo>
                <a:cubicBezTo>
                  <a:pt x="21600" y="5790"/>
                  <a:pt x="21600" y="6688"/>
                  <a:pt x="21600" y="7775"/>
                </a:cubicBezTo>
                <a:lnTo>
                  <a:pt x="21600" y="13825"/>
                </a:lnTo>
                <a:cubicBezTo>
                  <a:pt x="21600" y="14912"/>
                  <a:pt x="21600" y="15810"/>
                  <a:pt x="21552" y="16540"/>
                </a:cubicBezTo>
                <a:cubicBezTo>
                  <a:pt x="21503" y="17299"/>
                  <a:pt x="21396" y="17997"/>
                  <a:pt x="21129" y="18652"/>
                </a:cubicBezTo>
                <a:cubicBezTo>
                  <a:pt x="20715" y="19668"/>
                  <a:pt x="20055" y="20494"/>
                  <a:pt x="19241" y="21011"/>
                </a:cubicBezTo>
                <a:cubicBezTo>
                  <a:pt x="18717" y="21345"/>
                  <a:pt x="18159" y="21478"/>
                  <a:pt x="17552" y="21541"/>
                </a:cubicBezTo>
                <a:cubicBezTo>
                  <a:pt x="16968" y="21600"/>
                  <a:pt x="16250" y="21600"/>
                  <a:pt x="15380" y="21600"/>
                </a:cubicBezTo>
                <a:lnTo>
                  <a:pt x="6220" y="21600"/>
                </a:lnTo>
                <a:cubicBezTo>
                  <a:pt x="5350" y="21600"/>
                  <a:pt x="4632" y="21600"/>
                  <a:pt x="4048" y="21541"/>
                </a:cubicBezTo>
                <a:cubicBezTo>
                  <a:pt x="3441" y="21478"/>
                  <a:pt x="2883" y="21345"/>
                  <a:pt x="2359" y="21011"/>
                </a:cubicBezTo>
                <a:cubicBezTo>
                  <a:pt x="1545" y="20494"/>
                  <a:pt x="885" y="19668"/>
                  <a:pt x="471" y="18652"/>
                </a:cubicBezTo>
                <a:cubicBezTo>
                  <a:pt x="204" y="17997"/>
                  <a:pt x="97" y="17299"/>
                  <a:pt x="48" y="16540"/>
                </a:cubicBezTo>
                <a:cubicBezTo>
                  <a:pt x="0" y="15810"/>
                  <a:pt x="0" y="14912"/>
                  <a:pt x="0" y="13825"/>
                </a:cubicBezTo>
                <a:lnTo>
                  <a:pt x="0" y="7775"/>
                </a:lnTo>
                <a:cubicBezTo>
                  <a:pt x="0" y="6688"/>
                  <a:pt x="0" y="5790"/>
                  <a:pt x="48" y="5060"/>
                </a:cubicBezTo>
                <a:cubicBezTo>
                  <a:pt x="97" y="4301"/>
                  <a:pt x="204" y="3603"/>
                  <a:pt x="471" y="2948"/>
                </a:cubicBezTo>
                <a:cubicBezTo>
                  <a:pt x="885" y="1932"/>
                  <a:pt x="1545" y="1106"/>
                  <a:pt x="2359" y="589"/>
                </a:cubicBezTo>
                <a:cubicBezTo>
                  <a:pt x="2883" y="255"/>
                  <a:pt x="3441" y="122"/>
                  <a:pt x="4048" y="59"/>
                </a:cubicBezTo>
                <a:cubicBezTo>
                  <a:pt x="4632" y="0"/>
                  <a:pt x="5350" y="0"/>
                  <a:pt x="6220" y="0"/>
                </a:cubicBezTo>
                <a:close/>
                <a:moveTo>
                  <a:pt x="2160" y="9450"/>
                </a:moveTo>
                <a:lnTo>
                  <a:pt x="2160" y="13770"/>
                </a:lnTo>
                <a:cubicBezTo>
                  <a:pt x="2160" y="14927"/>
                  <a:pt x="2161" y="15713"/>
                  <a:pt x="2201" y="16320"/>
                </a:cubicBezTo>
                <a:cubicBezTo>
                  <a:pt x="2239" y="16911"/>
                  <a:pt x="2309" y="17215"/>
                  <a:pt x="2395" y="17426"/>
                </a:cubicBezTo>
                <a:cubicBezTo>
                  <a:pt x="2603" y="17933"/>
                  <a:pt x="2933" y="18347"/>
                  <a:pt x="3339" y="18606"/>
                </a:cubicBezTo>
                <a:cubicBezTo>
                  <a:pt x="3508" y="18714"/>
                  <a:pt x="3751" y="18801"/>
                  <a:pt x="4224" y="18849"/>
                </a:cubicBezTo>
                <a:cubicBezTo>
                  <a:pt x="4710" y="18899"/>
                  <a:pt x="5338" y="18900"/>
                  <a:pt x="6264" y="18900"/>
                </a:cubicBezTo>
                <a:lnTo>
                  <a:pt x="15336" y="18900"/>
                </a:lnTo>
                <a:cubicBezTo>
                  <a:pt x="16262" y="18900"/>
                  <a:pt x="16890" y="18899"/>
                  <a:pt x="17376" y="18849"/>
                </a:cubicBezTo>
                <a:cubicBezTo>
                  <a:pt x="17849" y="18801"/>
                  <a:pt x="18092" y="18714"/>
                  <a:pt x="18261" y="18606"/>
                </a:cubicBezTo>
                <a:cubicBezTo>
                  <a:pt x="18667" y="18347"/>
                  <a:pt x="18997" y="17933"/>
                  <a:pt x="19205" y="17426"/>
                </a:cubicBezTo>
                <a:cubicBezTo>
                  <a:pt x="19291" y="17215"/>
                  <a:pt x="19361" y="16911"/>
                  <a:pt x="19399" y="16320"/>
                </a:cubicBezTo>
                <a:cubicBezTo>
                  <a:pt x="19439" y="15713"/>
                  <a:pt x="19440" y="14927"/>
                  <a:pt x="19440" y="13770"/>
                </a:cubicBezTo>
                <a:lnTo>
                  <a:pt x="19440" y="9450"/>
                </a:lnTo>
                <a:lnTo>
                  <a:pt x="2160" y="9450"/>
                </a:lnTo>
                <a:close/>
                <a:moveTo>
                  <a:pt x="19438" y="6750"/>
                </a:moveTo>
                <a:cubicBezTo>
                  <a:pt x="19435" y="6148"/>
                  <a:pt x="19425" y="5677"/>
                  <a:pt x="19399" y="5280"/>
                </a:cubicBezTo>
                <a:cubicBezTo>
                  <a:pt x="19361" y="4689"/>
                  <a:pt x="19291" y="4385"/>
                  <a:pt x="19205" y="4174"/>
                </a:cubicBezTo>
                <a:cubicBezTo>
                  <a:pt x="18997" y="3667"/>
                  <a:pt x="18667" y="3254"/>
                  <a:pt x="18261" y="2994"/>
                </a:cubicBezTo>
                <a:cubicBezTo>
                  <a:pt x="18092" y="2886"/>
                  <a:pt x="17849" y="2799"/>
                  <a:pt x="17376" y="2751"/>
                </a:cubicBezTo>
                <a:cubicBezTo>
                  <a:pt x="16890" y="2701"/>
                  <a:pt x="16262" y="2700"/>
                  <a:pt x="15336" y="2700"/>
                </a:cubicBezTo>
                <a:lnTo>
                  <a:pt x="6264" y="2700"/>
                </a:lnTo>
                <a:cubicBezTo>
                  <a:pt x="5338" y="2700"/>
                  <a:pt x="4710" y="2701"/>
                  <a:pt x="4224" y="2751"/>
                </a:cubicBezTo>
                <a:cubicBezTo>
                  <a:pt x="3751" y="2799"/>
                  <a:pt x="3508" y="2886"/>
                  <a:pt x="3339" y="2994"/>
                </a:cubicBezTo>
                <a:cubicBezTo>
                  <a:pt x="2933" y="3254"/>
                  <a:pt x="2603" y="3667"/>
                  <a:pt x="2395" y="4174"/>
                </a:cubicBezTo>
                <a:cubicBezTo>
                  <a:pt x="2309" y="4385"/>
                  <a:pt x="2239" y="4689"/>
                  <a:pt x="2201" y="5280"/>
                </a:cubicBezTo>
                <a:cubicBezTo>
                  <a:pt x="2175" y="5677"/>
                  <a:pt x="2165" y="6148"/>
                  <a:pt x="2162" y="6750"/>
                </a:cubicBezTo>
                <a:lnTo>
                  <a:pt x="19438" y="6750"/>
                </a:lnTo>
                <a:close/>
                <a:moveTo>
                  <a:pt x="12960" y="14850"/>
                </a:moveTo>
                <a:cubicBezTo>
                  <a:pt x="12960" y="14105"/>
                  <a:pt x="13444" y="13500"/>
                  <a:pt x="14040" y="13500"/>
                </a:cubicBezTo>
                <a:lnTo>
                  <a:pt x="16200" y="13500"/>
                </a:lnTo>
                <a:cubicBezTo>
                  <a:pt x="16796" y="13500"/>
                  <a:pt x="17280" y="14105"/>
                  <a:pt x="17280" y="14850"/>
                </a:cubicBezTo>
                <a:cubicBezTo>
                  <a:pt x="17280" y="15595"/>
                  <a:pt x="16796" y="16200"/>
                  <a:pt x="16200" y="16200"/>
                </a:cubicBezTo>
                <a:lnTo>
                  <a:pt x="14040" y="16200"/>
                </a:lnTo>
                <a:cubicBezTo>
                  <a:pt x="13444" y="16200"/>
                  <a:pt x="12960" y="15595"/>
                  <a:pt x="12960" y="148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  <a:endParaRPr sz="43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05343969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FD6AB9A-5F9E-5F59-51AB-3C8734130965}" type="slidenum">
              <a:rPr sz="1500">
                <a:latin typeface="Helvetica Neue"/>
                <a:ea typeface="Helvetica Neue"/>
                <a:cs typeface="Helvetica Neue"/>
              </a:rPr>
              <a:t>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2900">
                <a:latin typeface="Helvetica Neue"/>
                <a:ea typeface="Helvetica Neue"/>
                <a:cs typeface="Helvetica Neue"/>
              </a:rPr>
              <a:t>Sensitivity is not enough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Aft>
                <a:spcPts val="12"/>
              </a:spcAft>
            </a:pPr>
            <a:r>
              <a:rPr sz="2250" b="1">
                <a:latin typeface="Helvetica Neue"/>
                <a:ea typeface="Helvetica Neue"/>
                <a:cs typeface="Helvetica Neue"/>
              </a:rPr>
              <a:t>The minimal dissociation</a:t>
            </a:r>
          </a:p>
          <a:p xmlns:a="http://schemas.openxmlformats.org/drawingml/2006/main">
            <a:pPr>
              <a:spcAft>
                <a:spcPts val="12"/>
              </a:spcAft>
            </a:pPr>
            <a:r>
              <a:rPr sz="1800">
                <a:latin typeface="Helvetica Neue"/>
                <a:ea typeface="Helvetica Neue"/>
                <a:cs typeface="Helvetica Neue"/>
              </a:rPr>
              <a:t>All three toy decoders catch the planted signal. Yet the broad feature model false-alarms when an absent band is removed, while focused and tree models stay silent.</a:t>
            </a:r>
          </a:p>
          <a:p xmlns:a="http://schemas.openxmlformats.org/drawingml/2006/main">
            <a:r>
              <a:rPr sz="1800">
                <a:latin typeface="Helvetica Neue"/>
                <a:ea typeface="Helvetica Neue"/>
                <a:cs typeface="Helvetica Neue"/>
              </a:rPr>
              <a:t>Specificity—not sensitivity—does the discriminating.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3474bfbec44daf"/>
          <a:stretch xmlns:a="http://schemas.openxmlformats.org/drawingml/2006/main"/>
        </p:blipFill>
        <p:spPr>
          <a:xfrm xmlns:a="http://schemas.openxmlformats.org/drawingml/2006/main" flipH="0" flipV="0">
            <a:off x="6269040" y="2330538"/>
            <a:ext cx="5539740" cy="1733812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595FF69-AA88-8653-2D13-3E0289A1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3AFD29D-9AD2-841D-0915-B4BDDC09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A10D6BE-4B8A-E31D-9AC6-AEB4FCD5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97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908090F4-C2CE-1329-8725-AC98A6AF8F6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rPr sz="1500">
                <a:latin typeface="Helvetica Neue"/>
                <a:ea typeface="Helvetica Neue"/>
                <a:cs typeface="Helvetica Neue"/>
              </a:rPr>
              <a:t>5</a:t>
            </a:fld>
            <a:endParaRPr/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B64EBD68-6C7C-E1E5-F754-A2CABD28D4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900">
                <a:latin typeface="Helvetica Neue"/>
                <a:ea typeface="Helvetica Neue"/>
                <a:cs typeface="Helvetica Neue"/>
              </a:rPr>
              <a:t>Reliability is decoder-conditional</a:t>
            </a:r>
            <a:endParaRPr/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8352425-466B-B7C0-4556-B12F3F4F6DB3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702413" y="4900613"/>
            <a:ext cx="2949575" cy="8191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5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band-power mean false-alarm rate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D1B4876-C319-B371-36B9-745CADB662E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541859" y="4900613"/>
            <a:ext cx="2949575" cy="8191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5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absent targets flagged by band-power on real alpha</a:t>
            </a:r>
          </a:p>
        </p:txBody>
      </p:sp>
      <p:sp>
        <p:nvSpPr>
          <p:cNvPr id="12" name="Content Placeholder 11">
            <a:extLst xmlns:a="http://schemas.openxmlformats.org/drawingml/2006/main">
              <a:ext uri="{FF2B5EF4-FFF2-40B4-BE49-F238E27FC236}">
                <a16:creationId xmlns:a16="http://schemas.microsoft.com/office/drawing/2014/main" id="{1BDFAF15-9B61-BA2E-0381-0DE8F578A81F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621211" y="4900613"/>
            <a:ext cx="2949575" cy="8191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5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EEGNet mean false-alarm rate</a:t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DBA9068-3E52-4988-B608-4CED930E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413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4350" b="1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68.8%</a:t>
            </a:r>
            <a:endParaRPr sz="7500"/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53D01BD-BEDA-E1D7-8112-CCD78E0B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32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4350" b="1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1.3%</a:t>
            </a:r>
            <a:endParaRPr sz="7500"/>
          </a:p>
        </p:txBody>
      </p:sp>
      <p:sp>
        <p:nvSpPr>
          <p:cNvPr id="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AE7C386-15B3-0C22-BD29-DB00B9F7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362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4350" b="1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3 of 4</a:t>
            </a:r>
            <a:endParaRPr sz="7500"/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45E38982-B0CA-BEBE-C656-B7F62835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38300"/>
            <a:ext cx="11404599" cy="15994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Aft>
                <a:spcPts val="4"/>
              </a:spcAft>
            </a:pPr>
            <a:r>
              <a:rPr sz="2100" b="1">
                <a:latin typeface="Helvetica Neue"/>
                <a:ea typeface="Helvetica Neue"/>
                <a:cs typeface="Helvetica Neue"/>
              </a:rPr>
              <a:t>Central finding</a:t>
            </a:r>
          </a:p>
          <a:p xmlns:a="http://schemas.openxmlformats.org/drawingml/2006/main">
            <a:pPr>
              <a:spcAft>
                <a:spcPts val="12"/>
              </a:spcAft>
            </a:pPr>
            <a:r>
              <a:rPr sz="1650">
                <a:latin typeface="Helvetica Neue"/>
                <a:ea typeface="Helvetica Neue"/>
                <a:cs typeface="Helvetica Neue"/>
              </a:rPr>
              <a:t>The same perturbation evidence has sharply different meaning across decoders. Full-grid rates are descriptive; the independent minimal replication preserves the qualitative result.</a:t>
            </a:r>
          </a:p>
        </p:txBody>
      </p:sp>
    </p:spTree>
    <p:extLst>
      <p:ext uri="{BB962C8B-B14F-4D97-AF65-F5344CB8AC3E}">
        <p14:creationId xmlns:p14="http://schemas.microsoft.com/office/powerpoint/2010/main" val="236961682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8C630A04-5A25-9E0C-9436-126091DB86B3}" type="slidenum">
              <a:rPr sz="1500">
                <a:latin typeface="Helvetica Neue"/>
                <a:ea typeface="Helvetica Neue"/>
                <a:cs typeface="Helvetica Neue"/>
              </a:rPr>
              <a:t>6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2900">
                <a:latin typeface="Helvetica Neue"/>
                <a:ea typeface="Helvetica Neue"/>
                <a:cs typeface="Helvetica Neue"/>
              </a:rPr>
              <a:t>The real-brain specificity check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Aft>
                <a:spcPts val="12"/>
              </a:spcAft>
            </a:pPr>
            <a:r>
              <a:rPr sz="2250" b="1">
                <a:latin typeface="Helvetica Neue"/>
                <a:ea typeface="Helvetica Neue"/>
                <a:cs typeface="Helvetica Neue"/>
              </a:rPr>
              <a:t>Real-brain specificity check</a:t>
            </a:r>
          </a:p>
          <a:p xmlns:a="http://schemas.openxmlformats.org/drawingml/2006/main">
            <a:pPr>
              <a:spcAft>
                <a:spcPts val="12"/>
              </a:spcAft>
            </a:pPr>
            <a:r>
              <a:rPr sz="1800">
                <a:latin typeface="Helvetica Neue"/>
                <a:ea typeface="Helvetica Neue"/>
                <a:cs typeface="Helvetica Neue"/>
              </a:rPr>
              <a:t>Eyes-open versus eyes-closed has a known occipital-alpha signal. Band-power false-alarms on three absent targets; CSP false-alarms on both spatial controls.</a:t>
            </a:r>
          </a:p>
          <a:p xmlns:a="http://schemas.openxmlformats.org/drawingml/2006/main">
            <a:r>
              <a:rPr sz="1800">
                <a:latin typeface="Helvetica Neue"/>
                <a:ea typeface="Helvetica Neue"/>
                <a:cs typeface="Helvetica Neue"/>
              </a:rPr>
              <a:t>This corroborates the specificity warning—not motor-imagery causality.</a:t>
            </a:r>
          </a:p>
        </p:txBody>
      </p:sp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b13984b7604aea"/>
          <a:stretch xmlns:a="http://schemas.openxmlformats.org/drawingml/2006/main"/>
        </p:blipFill>
        <p:spPr>
          <a:xfrm xmlns:a="http://schemas.openxmlformats.org/drawingml/2006/main" flipH="0" flipV="0">
            <a:off x="6269040" y="1619209"/>
            <a:ext cx="5539740" cy="3156469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D3D7D1C8-AE23-AA48-DF65-C742588DBE47}" type="slidenum">
              <a:rPr sz="1500">
                <a:latin typeface="Helvetica Neue"/>
                <a:ea typeface="Helvetica Neue"/>
                <a:cs typeface="Helvetica Neue"/>
              </a:rPr>
              <a:t>7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2900">
                <a:latin typeface="Helvetica Neue"/>
                <a:ea typeface="Helvetica Neue"/>
                <a:cs typeface="Helvetica Neue"/>
              </a:rPr>
              <a:t>Conclusion: perturbation drops need calibration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172243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175" b="1">
                <a:latin typeface="Helvetica Neue"/>
                <a:ea typeface="Helvetica Neue"/>
                <a:cs typeface="Helvetica Neue"/>
              </a:rPr>
              <a:t>What we did</a:t>
            </a:r>
            <a:endParaRPr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317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4881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725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FOUND · False-alarm rates depended on decoder</a:t>
            </a:r>
          </a:p>
        </p:txBody>
      </p:sp>
      <p:sp>
        <p:nvSpPr>
          <p:cNvPr id="3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015150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90316"/>
            <a:ext cx="5537200" cy="28846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725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We planted known EEG signals, tested several decoders and perturbation controls, and checked specificity on real eyes-open/closed data.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916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4881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725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Band-power averaged 68.8%; EEGNet 1.3%</a:t>
            </a:r>
          </a:p>
        </p:txBody>
      </p:sp>
      <p:sp>
        <p:nvSpPr>
          <p:cNvPr id="1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624749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765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4881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725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WHY IT MATTERS · The same drop can mean different evidence</a:t>
            </a:r>
          </a:p>
        </p:txBody>
      </p:sp>
      <p:sp>
        <p:nvSpPr>
          <p:cNvPr id="1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239598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4881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725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Report sensitivity and false-alarm rate together</a:t>
            </a:r>
          </a:p>
        </p:txBody>
      </p:sp>
      <p:sp>
        <p:nvSpPr>
          <p:cNvPr id="21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8491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4881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725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Avoid causality claims from perturbation alone</a:t>
            </a:r>
          </a:p>
        </p:txBody>
      </p:sp>
      <p:sp>
        <p:nvSpPr>
          <p:cNvPr id="2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54714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979AC8B6-148F-970D-D8DE-AD2E0AB19BC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738755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5550">
                <a:latin typeface="Helvetica Neue"/>
                <a:ea typeface="Helvetica Neue"/>
                <a:cs typeface="Helvetica Neue"/>
              </a:rPr>
              <a:t>Uncalibrated controls create</a:t>
            </a:r>
          </a:p>
          <a:p xmlns:a="http://schemas.openxmlformats.org/drawingml/2006/main">
            <a:r>
              <a:rPr sz="5550">
                <a:latin typeface="Helvetica Neue"/>
                <a:ea typeface="Helvetica Neue"/>
                <a:cs typeface="Helvetica Neue"/>
              </a:rPr>
              <a:t>uncalibrated evidence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A8E1F2E1-786A-48AE-5E52-0072282842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973320"/>
            <a:ext cx="3568700" cy="10802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350">
                <a:latin typeface="Helvetica Neue"/>
                <a:ea typeface="Helvetica Neue"/>
                <a:cs typeface="Helvetica Neue"/>
              </a:rPr>
              <a:t>Did: calibrated controls against known truth</a:t>
            </a:r>
          </a:p>
          <a:p xmlns:a="http://schemas.openxmlformats.org/drawingml/2006/main">
            <a:r>
              <a:rPr sz="1350">
                <a:latin typeface="Helvetica Neue"/>
                <a:ea typeface="Helvetica Neue"/>
                <a:cs typeface="Helvetica Neue"/>
              </a:rPr>
              <a:t>Found: false alarms varied sharply by decoder</a:t>
            </a:r>
          </a:p>
          <a:p xmlns:a="http://schemas.openxmlformats.org/drawingml/2006/main">
            <a:r>
              <a:rPr sz="1350">
                <a:latin typeface="Helvetica Neue"/>
                <a:ea typeface="Helvetica Neue"/>
                <a:cs typeface="Helvetica Neue"/>
              </a:rPr>
              <a:t>Matters: accuracy drops need reliability numbers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A94AB779-D110-4562-575A-800C929A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16129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2025">
                <a:latin typeface="Helvetica Neue"/>
                <a:ea typeface="Helvetica Neue"/>
                <a:cs typeface="Helvetica Neue"/>
              </a:rPr>
              <a:t>CC5085 · Questions</a:t>
            </a:r>
          </a:p>
        </p:txBody>
      </p:sp>
    </p:spTree>
    <p:extLst>
      <p:ext uri="{BB962C8B-B14F-4D97-AF65-F5344CB8AC3E}">
        <p14:creationId xmlns:p14="http://schemas.microsoft.com/office/powerpoint/2010/main" val="3653678558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2026-08-21T03:36:30.8590000Z</dcterms:created>
  <dcterms:modified xsi:type="dcterms:W3CDTF">2026-08-21T03:36:30.8590000Z</dcterms:modified>
</coreProperties>
</file>