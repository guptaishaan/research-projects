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863d991e94c19" /><Relationship Type="http://schemas.openxmlformats.org/officeDocument/2006/relationships/extended-properties" Target="/docProps/app.xml" Id="Re85d1e0d052140c6" /><Relationship Type="http://schemas.openxmlformats.org/officeDocument/2006/relationships/officeDocument" Target="/ppt/presentation.xml" Id="R96d26aa1600c4b7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e73e243d3a8463e"/>
  </p:sldMasterIdLst>
  <p:notesMasterIdLst>
    <p:notesMasterId xmlns:r="http://schemas.openxmlformats.org/officeDocument/2006/relationships" r:id="Rb0d0e56b52894b54"/>
  </p:notesMasterIdLst>
  <p:sldIdLst>
    <p:sldId xmlns:r="http://schemas.openxmlformats.org/officeDocument/2006/relationships" id="256" r:id="R7083cc4285e54c32"/>
    <p:sldId xmlns:r="http://schemas.openxmlformats.org/officeDocument/2006/relationships" id="257" r:id="R9e2db79d40a741ee"/>
    <p:sldId xmlns:r="http://schemas.openxmlformats.org/officeDocument/2006/relationships" id="258" r:id="R6bad94e35aff42aa"/>
    <p:sldId xmlns:r="http://schemas.openxmlformats.org/officeDocument/2006/relationships" id="259" r:id="Rfa0c22e396354ca3"/>
    <p:sldId xmlns:r="http://schemas.openxmlformats.org/officeDocument/2006/relationships" id="260" r:id="R82371818f7ff455b"/>
    <p:sldId xmlns:r="http://schemas.openxmlformats.org/officeDocument/2006/relationships" id="261" r:id="R800b937e208b4142"/>
    <p:sldId xmlns:r="http://schemas.openxmlformats.org/officeDocument/2006/relationships" id="262" r:id="R5a6d9f8117a84b65"/>
    <p:sldId xmlns:r="http://schemas.openxmlformats.org/officeDocument/2006/relationships" id="263" r:id="R09dc05e458ea428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2edf38bde5e24f35"/>
      <p:bold xmlns:r="http://schemas.openxmlformats.org/officeDocument/2006/relationships" r:id="Rc821985521dc4b41"/>
      <p:italic xmlns:r="http://schemas.openxmlformats.org/officeDocument/2006/relationships" r:id="R7639e5d48aae40d0"/>
      <p:boldItalic xmlns:r="http://schemas.openxmlformats.org/officeDocument/2006/relationships" r:id="Rffaf753b04e141a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f9419eef264a16" /><Relationship Type="http://schemas.openxmlformats.org/officeDocument/2006/relationships/slideMaster" Target="/ppt/slideMasters/slideMaster1.xml" Id="Ree73e243d3a8463e" /><Relationship Type="http://schemas.openxmlformats.org/officeDocument/2006/relationships/notesMaster" Target="/ppt/notesMasters/notesMaster1.xml" Id="Rb0d0e56b52894b54" /><Relationship Type="http://schemas.openxmlformats.org/officeDocument/2006/relationships/presProps" Target="/ppt/presProps.xml" Id="Rd019a3553f294dba" /><Relationship Type="http://schemas.openxmlformats.org/officeDocument/2006/relationships/viewProps" Target="/ppt/viewProps.xml" Id="Ra943bccb445e48ef" /><Relationship Type="http://schemas.openxmlformats.org/officeDocument/2006/relationships/tableStyles" Target="/ppt/tableStyles.xml" Id="Rf278abb319204cee" /><Relationship Type="http://schemas.openxmlformats.org/officeDocument/2006/relationships/font" Target="/ppt/fonts/font.dat" Id="R2edf38bde5e24f35" /><Relationship Type="http://schemas.openxmlformats.org/officeDocument/2006/relationships/font" Target="/ppt/fonts/font2.dat" Id="Rc821985521dc4b41" /><Relationship Type="http://schemas.openxmlformats.org/officeDocument/2006/relationships/font" Target="/ppt/fonts/font3.dat" Id="R7639e5d48aae40d0" /><Relationship Type="http://schemas.openxmlformats.org/officeDocument/2006/relationships/font" Target="/ppt/fonts/font4.dat" Id="Rffaf753b04e141aa" /><Relationship Type="http://schemas.openxmlformats.org/officeDocument/2006/relationships/slide" Target="/ppt/slides/slide1.xml" Id="R7083cc4285e54c32" /><Relationship Type="http://schemas.openxmlformats.org/officeDocument/2006/relationships/slide" Target="/ppt/slides/slide2.xml" Id="R9e2db79d40a741ee" /><Relationship Type="http://schemas.openxmlformats.org/officeDocument/2006/relationships/slide" Target="/ppt/slides/slide3.xml" Id="R6bad94e35aff42aa" /><Relationship Type="http://schemas.openxmlformats.org/officeDocument/2006/relationships/slide" Target="/ppt/slides/slide4.xml" Id="Rfa0c22e396354ca3" /><Relationship Type="http://schemas.openxmlformats.org/officeDocument/2006/relationships/slide" Target="/ppt/slides/slide5.xml" Id="R82371818f7ff455b" /><Relationship Type="http://schemas.openxmlformats.org/officeDocument/2006/relationships/slide" Target="/ppt/slides/slide6.xml" Id="R800b937e208b4142" /><Relationship Type="http://schemas.openxmlformats.org/officeDocument/2006/relationships/slide" Target="/ppt/slides/slide7.xml" Id="R5a6d9f8117a84b65" /><Relationship Type="http://schemas.openxmlformats.org/officeDocument/2006/relationships/slide" Target="/ppt/slides/slide8.xml" Id="R09dc05e458ea42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cbee588d0b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e9a1ccc6f4c72" /><Relationship Type="http://schemas.openxmlformats.org/officeDocument/2006/relationships/notesMaster" Target="/ppt/notesMasters/notesMaster1.xml" Id="R93a154cd54e7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d416d53f442df" /><Relationship Type="http://schemas.openxmlformats.org/officeDocument/2006/relationships/notesMaster" Target="/ppt/notesMasters/notesMaster1.xml" Id="Rde6e04bd957f4c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abd514ac14aaa" /><Relationship Type="http://schemas.openxmlformats.org/officeDocument/2006/relationships/notesMaster" Target="/ppt/notesMasters/notesMaster1.xml" Id="R119d5dc9e1c7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c6b2f20ac4ca8" /><Relationship Type="http://schemas.openxmlformats.org/officeDocument/2006/relationships/notesMaster" Target="/ppt/notesMasters/notesMaster1.xml" Id="R4dccb67d02784a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c59773764c49eb" /><Relationship Type="http://schemas.openxmlformats.org/officeDocument/2006/relationships/notesMaster" Target="/ppt/notesMasters/notesMaster1.xml" Id="R14dc3e86fe0842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cf1cbf743469f" /><Relationship Type="http://schemas.openxmlformats.org/officeDocument/2006/relationships/notesMaster" Target="/ppt/notesMasters/notesMaster1.xml" Id="Rae5caa5babf340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379a2fe244eda" /><Relationship Type="http://schemas.openxmlformats.org/officeDocument/2006/relationships/notesMaster" Target="/ppt/notesMasters/notesMaster1.xml" Id="R4d44b1b7e9404d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d01e64adb4413" /><Relationship Type="http://schemas.openxmlformats.org/officeDocument/2006/relationships/notesMaster" Target="/ppt/notesMasters/notesMaster1.xml" Id="R7cb0630c85e2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question. The official paper title is: Early Forecasting of Catastrophic Forgetting in CLIP Fine-Tuning: How Much Does Watching Training Actually Tell You?. Credit every author listed on the slide.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problem before introducing models. State the specific research question and the criterion that makes the answer defensible.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data, validation boundary, then models or analysis. Emphasize the unit that is held 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figure to explain why the study design matters. Describe the visual pattern first, then interpret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/private/tmp/research-projects-icaise-read/papers/clip-forgetting-forecasting/figures/fig1_forgetting_curves.pdf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three headline values. Explain the strongest supported claim and avoid turning descriptive differences into stronger causal or statistical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/private/tmp/research-projects-icaise-read/papers/clip-forgetting-forecasting/main.pdf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second figure to connect the numeric result to the paper's central methodological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/private/tmp/research-projects-icaise-read/papers/clip-forgetting-forecasting/figures/fig4_forecast_quality.pdf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conclusion in three steps: what we did, what we found, and why the result matters. End with the next experiment or validation step that would strengthen the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Summarize what was done, the main finding, and its importance in three short sentences, then invite questions.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/private/tmp/research-projects-icaise-read/papers/clip-forgetting-forecasting/main.pdf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b668d09c740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dd796fc0a43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2072fa8954d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038feee2b4b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4c1a140454f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e47cebb5743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6426f21ac4b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0dd3abdc142c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448ec1a374204" /><Relationship Type="http://schemas.openxmlformats.org/officeDocument/2006/relationships/slideLayout" Target="/ppt/slideLayouts/slideLayout1.xml" Id="R864b238224374f4c" /><Relationship Type="http://schemas.openxmlformats.org/officeDocument/2006/relationships/slideLayout" Target="/ppt/slideLayouts/slideLayout2.xml" Id="R109fb7b0e47642c8" /><Relationship Type="http://schemas.openxmlformats.org/officeDocument/2006/relationships/slideLayout" Target="/ppt/slideLayouts/slideLayout3.xml" Id="R3e88952025b94a00" /><Relationship Type="http://schemas.openxmlformats.org/officeDocument/2006/relationships/slideLayout" Target="/ppt/slideLayouts/slideLayout4.xml" Id="Rce80d369370d4969" /><Relationship Type="http://schemas.openxmlformats.org/officeDocument/2006/relationships/slideLayout" Target="/ppt/slideLayouts/slideLayout5.xml" Id="R228e01f8c2f14371" /><Relationship Type="http://schemas.openxmlformats.org/officeDocument/2006/relationships/slideLayout" Target="/ppt/slideLayouts/slideLayout6.xml" Id="R743f57effb9347e3" /><Relationship Type="http://schemas.openxmlformats.org/officeDocument/2006/relationships/slideLayout" Target="/ppt/slideLayouts/slideLayout7.xml" Id="Rcec1d60b51fb4a68" /><Relationship Type="http://schemas.openxmlformats.org/officeDocument/2006/relationships/slideLayout" Target="/ppt/slideLayouts/slideLayout8.xml" Id="Rf0fc609b661e44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b238224374f4c"/>
    <p:sldLayoutId xmlns:r="http://schemas.openxmlformats.org/officeDocument/2006/relationships" id="2147483650" r:id="R109fb7b0e47642c8"/>
    <p:sldLayoutId xmlns:r="http://schemas.openxmlformats.org/officeDocument/2006/relationships" id="2147483651" r:id="R3e88952025b94a00"/>
    <p:sldLayoutId xmlns:r="http://schemas.openxmlformats.org/officeDocument/2006/relationships" id="2147483652" r:id="Rce80d369370d4969"/>
    <p:sldLayoutId xmlns:r="http://schemas.openxmlformats.org/officeDocument/2006/relationships" id="2147483653" r:id="R228e01f8c2f14371"/>
    <p:sldLayoutId xmlns:r="http://schemas.openxmlformats.org/officeDocument/2006/relationships" id="2147483654" r:id="R743f57effb9347e3"/>
    <p:sldLayoutId xmlns:r="http://schemas.openxmlformats.org/officeDocument/2006/relationships" id="2147483655" r:id="Rcec1d60b51fb4a68"/>
    <p:sldLayoutId xmlns:r="http://schemas.openxmlformats.org/officeDocument/2006/relationships" id="2147483656" r:id="Rf0fc609b661e442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8d95c48174ba5" /><Relationship Type="http://schemas.openxmlformats.org/officeDocument/2006/relationships/notesSlide" Target="/ppt/notesSlides/notesSlide1.xml" Id="Rdd0121a45d06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fe6a9c54ea4cc4" /><Relationship Type="http://schemas.openxmlformats.org/officeDocument/2006/relationships/notesSlide" Target="/ppt/notesSlides/notesSlide2.xml" Id="R9c1cb021fb0344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39b4a8fa74420" /><Relationship Type="http://schemas.openxmlformats.org/officeDocument/2006/relationships/notesSlide" Target="/ppt/notesSlides/notesSlide3.xml" Id="R287f91d0f902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791d3d7cd43c5" /><Relationship Type="http://schemas.openxmlformats.org/officeDocument/2006/relationships/image" Target="/ppt/media/image.png" Id="R3025976cb2754996" /><Relationship Type="http://schemas.openxmlformats.org/officeDocument/2006/relationships/notesSlide" Target="/ppt/notesSlides/notesSlide4.xml" Id="R586ece50be4444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81141392c4ad9" /><Relationship Type="http://schemas.openxmlformats.org/officeDocument/2006/relationships/notesSlide" Target="/ppt/notesSlides/notesSlide5.xml" Id="R8962f61291cb4c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c7bcf721342c1" /><Relationship Type="http://schemas.openxmlformats.org/officeDocument/2006/relationships/image" Target="/ppt/media/image2.png" Id="R89fc598367f440b3" /><Relationship Type="http://schemas.openxmlformats.org/officeDocument/2006/relationships/notesSlide" Target="/ppt/notesSlides/notesSlide6.xml" Id="R2929bcdc71d94a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1474b11e24a93" /><Relationship Type="http://schemas.openxmlformats.org/officeDocument/2006/relationships/notesSlide" Target="/ppt/notesSlides/notesSlide7.xml" Id="R5555c7054e2944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5856c0f7c4d91" /><Relationship Type="http://schemas.openxmlformats.org/officeDocument/2006/relationships/notesSlide" Target="/ppt/notesSlides/notesSlide8.xml" Id="R93f52c1a75de47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700">
                <a:latin typeface="Helvetica Neue"/>
                <a:ea typeface="Helvetica Neue"/>
                <a:cs typeface="Helvetica Neue"/>
              </a:rPr>
              <a:t>Can five epochs predict CLIP forgetting?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Authors: Saanvi Eha Chandra, Avni Gautam, Krisha Gupta, Neel Ranadive, Aarav Shah, Noah Yoo, Srikanth Samy, Ishaan Gupta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50">
                <a:latin typeface="Helvetica Neue"/>
                <a:ea typeface="Helvetica Neue"/>
                <a:cs typeface="Helvetica Neue"/>
              </a:rPr>
              <a:t>ICAISE 2026 · CC5084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problem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Fine-tuning on a narrow dataset improves target performance while eroding the zero-shot breadth that made CLIP useful.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decision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If damage is predictable from a short prefix, a practitioner can stop, lower the learning rate, or change adaptation strategy before paying for the full run.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 sz="1500"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practical forecasting question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Research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Given the first K epochs on an unseen dataset, how accurately can we forecast final forgetting Φ20?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control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A learned forecaster must beat persistence: predict that final forgetting equals what is already visible at epoch K.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 sz="1500"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Forty-eight runs, grouped by dataset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CLIP ViT-B/32 across 16 datasets, three learning rates, and 20 epochs. Five trajectory signals are logged each epoch.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Leave one dataset out: all three learning-rate runs of the held-out dataset remain unseen; all transforms are fold-local.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FORECASTERS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Static descriptors versus a five-epoch warm-up, using tabular and sequence models plus raw and calibrated persistence.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 sz="1500"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learning-rate effect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The first five epochs carry signal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Forgetting rises early and then largely persists. Higher learning rates create larger and more variable losses across natural, digit, and medical datasets.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That visual pattern motivates a warm-up forecast—but also a strong persistence baseline.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5976cb2754996"/>
          <a:stretch xmlns:a="http://schemas.openxmlformats.org/drawingml/2006/main"/>
        </p:blipFill>
        <p:spPr>
          <a:xfrm xmlns:a="http://schemas.openxmlformats.org/drawingml/2006/main" flipH="0" flipV="0">
            <a:off x="6269040" y="2188002"/>
            <a:ext cx="5539740" cy="201888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500"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Warm-up forecasting is strong—and simple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gradient-boosting R² with warm-up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calibrated-persistence R²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gradient-boosting MAE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0.917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0.025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0.919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2100" b="1">
                <a:latin typeface="Helvetica Neue"/>
                <a:ea typeface="Helvetica Neue"/>
                <a:cs typeface="Helvetica Neue"/>
              </a:rPr>
              <a:t>Main result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Adding five warm-up epochs more than doubles predictive R² versus static descriptors. But calibrated persistence matches the best learned model within dataset-level uncertainty.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 sz="1500"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Persistence explains most of it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The warm-up matters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Static descriptors alone reach only R² = 0.43; adding early dynamics raises performance to about 0.92.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The extra drift and loss signals do not demonstrably beat a fold-local calibration of Φ5 alone.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c598367f440b3"/>
          <a:stretch xmlns:a="http://schemas.openxmlformats.org/drawingml/2006/main"/>
        </p:blipFill>
        <p:spPr>
          <a:xfrm xmlns:a="http://schemas.openxmlformats.org/drawingml/2006/main" flipH="0" flipV="0">
            <a:off x="6269040" y="2118483"/>
            <a:ext cx="5539740" cy="215792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 sz="1500"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Conclusion: five epochs are enough to forecast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latin typeface="Helvetica Neue"/>
                <a:ea typeface="Helvetica Neue"/>
                <a:cs typeface="Helvetica Neue"/>
              </a:rPr>
              <a:t>What we did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FOUND · Five-epoch models reached R² ≈ 0.92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25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Across 48 CLIP fine-tuning runs on 16 datasets, we predicted final forgetting from static descriptors or the first five training epochs.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Calibrated persistence matched the learned forecaster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WHY IT MATTERS · Early stopping can be decided quickly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Complex trajectories add little beyond early forgetting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 by held-out dataset—not run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Early forgetting is predictive—</a:t>
            </a:r>
          </a:p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but mostly persistent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Did: forecast final forgetting after five epochs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Found: R² ≈ 0.92; persistence matched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Matters: intervene early with a simple baseline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25">
                <a:latin typeface="Helvetica Neue"/>
                <a:ea typeface="Helvetica Neue"/>
                <a:cs typeface="Helvetica Neue"/>
              </a:rPr>
              <a:t>CC5084 · Questions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2026-08-21T03:36:29.6590000Z</dcterms:created>
  <dcterms:modified xsi:type="dcterms:W3CDTF">2026-08-21T03:36:29.6590000Z</dcterms:modified>
</coreProperties>
</file>