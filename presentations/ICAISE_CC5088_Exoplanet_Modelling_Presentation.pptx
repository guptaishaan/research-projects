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13ef1d4ed24b74" /><Relationship Type="http://schemas.openxmlformats.org/officeDocument/2006/relationships/extended-properties" Target="/docProps/app.xml" Id="Rfc7a4d003c1a4e55" /><Relationship Type="http://schemas.openxmlformats.org/officeDocument/2006/relationships/officeDocument" Target="/ppt/presentation.xml" Id="R20e01e65dfcc46b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d77b25452094f24"/>
  </p:sldMasterIdLst>
  <p:notesMasterIdLst>
    <p:notesMasterId xmlns:r="http://schemas.openxmlformats.org/officeDocument/2006/relationships" r:id="Re959c282de2d4167"/>
  </p:notesMasterIdLst>
  <p:sldIdLst>
    <p:sldId xmlns:r="http://schemas.openxmlformats.org/officeDocument/2006/relationships" id="256" r:id="R29b3042b504f4aa4"/>
    <p:sldId xmlns:r="http://schemas.openxmlformats.org/officeDocument/2006/relationships" id="257" r:id="R035ed61485e142e6"/>
    <p:sldId xmlns:r="http://schemas.openxmlformats.org/officeDocument/2006/relationships" id="258" r:id="R94e2761d98804955"/>
    <p:sldId xmlns:r="http://schemas.openxmlformats.org/officeDocument/2006/relationships" id="259" r:id="Re96c6e1598164a05"/>
    <p:sldId xmlns:r="http://schemas.openxmlformats.org/officeDocument/2006/relationships" id="260" r:id="R52e976b176ee4ab1"/>
    <p:sldId xmlns:r="http://schemas.openxmlformats.org/officeDocument/2006/relationships" id="261" r:id="R8e5c19aa609f4f22"/>
    <p:sldId xmlns:r="http://schemas.openxmlformats.org/officeDocument/2006/relationships" id="262" r:id="Ra04b6b97d87a45a1"/>
    <p:sldId xmlns:r="http://schemas.openxmlformats.org/officeDocument/2006/relationships" id="263" r:id="R5d70587036a34eaf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6377395879454db0"/>
      <p:bold xmlns:r="http://schemas.openxmlformats.org/officeDocument/2006/relationships" r:id="R38a3f8a4416841b3"/>
      <p:italic xmlns:r="http://schemas.openxmlformats.org/officeDocument/2006/relationships" r:id="R745e7ca582124b8b"/>
      <p:boldItalic xmlns:r="http://schemas.openxmlformats.org/officeDocument/2006/relationships" r:id="R018408c9915a49b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8626d4e66d41b1" /><Relationship Type="http://schemas.openxmlformats.org/officeDocument/2006/relationships/slideMaster" Target="/ppt/slideMasters/slideMaster1.xml" Id="Red77b25452094f24" /><Relationship Type="http://schemas.openxmlformats.org/officeDocument/2006/relationships/notesMaster" Target="/ppt/notesMasters/notesMaster1.xml" Id="Re959c282de2d4167" /><Relationship Type="http://schemas.openxmlformats.org/officeDocument/2006/relationships/presProps" Target="/ppt/presProps.xml" Id="R8b2da8ab03d44957" /><Relationship Type="http://schemas.openxmlformats.org/officeDocument/2006/relationships/viewProps" Target="/ppt/viewProps.xml" Id="R259022a33ca842bc" /><Relationship Type="http://schemas.openxmlformats.org/officeDocument/2006/relationships/tableStyles" Target="/ppt/tableStyles.xml" Id="Raf87aad49f684244" /><Relationship Type="http://schemas.openxmlformats.org/officeDocument/2006/relationships/font" Target="/ppt/fonts/font.dat" Id="R6377395879454db0" /><Relationship Type="http://schemas.openxmlformats.org/officeDocument/2006/relationships/font" Target="/ppt/fonts/font2.dat" Id="R38a3f8a4416841b3" /><Relationship Type="http://schemas.openxmlformats.org/officeDocument/2006/relationships/font" Target="/ppt/fonts/font3.dat" Id="R745e7ca582124b8b" /><Relationship Type="http://schemas.openxmlformats.org/officeDocument/2006/relationships/font" Target="/ppt/fonts/font4.dat" Id="R018408c9915a49bf" /><Relationship Type="http://schemas.openxmlformats.org/officeDocument/2006/relationships/slide" Target="/ppt/slides/slide1.xml" Id="R29b3042b504f4aa4" /><Relationship Type="http://schemas.openxmlformats.org/officeDocument/2006/relationships/slide" Target="/ppt/slides/slide2.xml" Id="R035ed61485e142e6" /><Relationship Type="http://schemas.openxmlformats.org/officeDocument/2006/relationships/slide" Target="/ppt/slides/slide3.xml" Id="R94e2761d98804955" /><Relationship Type="http://schemas.openxmlformats.org/officeDocument/2006/relationships/slide" Target="/ppt/slides/slide4.xml" Id="Re96c6e1598164a05" /><Relationship Type="http://schemas.openxmlformats.org/officeDocument/2006/relationships/slide" Target="/ppt/slides/slide5.xml" Id="R52e976b176ee4ab1" /><Relationship Type="http://schemas.openxmlformats.org/officeDocument/2006/relationships/slide" Target="/ppt/slides/slide6.xml" Id="R8e5c19aa609f4f22" /><Relationship Type="http://schemas.openxmlformats.org/officeDocument/2006/relationships/slide" Target="/ppt/slides/slide7.xml" Id="Ra04b6b97d87a45a1" /><Relationship Type="http://schemas.openxmlformats.org/officeDocument/2006/relationships/slide" Target="/ppt/slides/slide8.xml" Id="R5d70587036a34e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5ae91fcd9641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0151fd13a64cf5" /><Relationship Type="http://schemas.openxmlformats.org/officeDocument/2006/relationships/notesMaster" Target="/ppt/notesMasters/notesMaster1.xml" Id="R5dfccd17299647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646879579f4c49" /><Relationship Type="http://schemas.openxmlformats.org/officeDocument/2006/relationships/notesMaster" Target="/ppt/notesMasters/notesMaster1.xml" Id="R5063d181c01b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edd38644ff480f" /><Relationship Type="http://schemas.openxmlformats.org/officeDocument/2006/relationships/notesMaster" Target="/ppt/notesMasters/notesMaster1.xml" Id="Re9fbfeda3d6145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028129ae5c44f0" /><Relationship Type="http://schemas.openxmlformats.org/officeDocument/2006/relationships/notesMaster" Target="/ppt/notesMasters/notesMaster1.xml" Id="R27c8179bdf3e46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a18ab5aa144cd8" /><Relationship Type="http://schemas.openxmlformats.org/officeDocument/2006/relationships/notesMaster" Target="/ppt/notesMasters/notesMaster1.xml" Id="Re806ede27fb043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6cf19c78a243cf" /><Relationship Type="http://schemas.openxmlformats.org/officeDocument/2006/relationships/notesMaster" Target="/ppt/notesMasters/notesMaster1.xml" Id="R844e94eece664e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b5717b18bb41d0" /><Relationship Type="http://schemas.openxmlformats.org/officeDocument/2006/relationships/notesMaster" Target="/ppt/notesMasters/notesMaster1.xml" Id="R92076c60aad24d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58641983664816" /><Relationship Type="http://schemas.openxmlformats.org/officeDocument/2006/relationships/notesMaster" Target="/ppt/notesMasters/notesMaster1.xml" Id="R7fdb99537d954e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question. The official paper title is: Accuracy–Interpretability Trade-offs in Exoplanet Transit Modelling, and a Label-Free Physics-Informed Estimator of Planetary Radii. Credit every author listed on the slide.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/private/tmp/research-projects-icaise-read/papers/exoplanet-model-comparison/main.pdf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problem before introducing models. State the specific research question and the criterion that makes the answer defensible.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/private/tmp/research-projects-icaise-read/papers/exoplanet-model-comparison/main.pdf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Walk left to right: data, validation boundary, then models or analysis. Emphasize the unit that is held out.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/private/tmp/research-projects-icaise-read/papers/exoplanet-model-comparison/main.pdf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figure to explain why the study design matters. Describe the visual pattern first, then interpret 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/private/tmp/research-projects-icaise-read/papers/exoplanet-model-comparison/main.pdf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/private/tmp/research-projects-icaise-read/papers/exoplanet-model-comparison/figures/fig3_pareto.pdf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three headline values. Explain the strongest supported claim and avoid turning descriptive differences into stronger causal or statistical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/private/tmp/research-projects-icaise-read/papers/exoplanet-model-comparison/main.pdf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second figure to connect the numeric result to the paper's central methodological lesson.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/private/tmp/research-projects-icaise-read/papers/exoplanet-model-comparison/main.pdf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/private/tmp/research-projects-icaise-read/papers/exoplanet-model-comparison/figures/fig4_real_kepler.pdf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conclusion in three steps: what we did, what we found, and why the result matters. End with the next experiment or validation step that would strengthen the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/private/tmp/research-projects-icaise-read/papers/exoplanet-model-comparison/main.pdf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question. Summarize what was done, the main finding, and its importance in three short sentences, then invite questions.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/private/tmp/research-projects-icaise-read/papers/exoplanet-model-comparison/main.pdf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4bf244f2284c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5c90df3e145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58e655c7f47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ebd0e8d464e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60573f8ca4d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46649a54e4a5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e9b250cac43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aa8303bfc4dd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3b8af84a7c49a9" /><Relationship Type="http://schemas.openxmlformats.org/officeDocument/2006/relationships/slideLayout" Target="/ppt/slideLayouts/slideLayout1.xml" Id="Rd816d5a422054d17" /><Relationship Type="http://schemas.openxmlformats.org/officeDocument/2006/relationships/slideLayout" Target="/ppt/slideLayouts/slideLayout2.xml" Id="Re9a8d1df9cd24b22" /><Relationship Type="http://schemas.openxmlformats.org/officeDocument/2006/relationships/slideLayout" Target="/ppt/slideLayouts/slideLayout3.xml" Id="R4ad53a701e0d4d72" /><Relationship Type="http://schemas.openxmlformats.org/officeDocument/2006/relationships/slideLayout" Target="/ppt/slideLayouts/slideLayout4.xml" Id="Re256beeff7414c3d" /><Relationship Type="http://schemas.openxmlformats.org/officeDocument/2006/relationships/slideLayout" Target="/ppt/slideLayouts/slideLayout5.xml" Id="R0cb83ace3df04dcf" /><Relationship Type="http://schemas.openxmlformats.org/officeDocument/2006/relationships/slideLayout" Target="/ppt/slideLayouts/slideLayout6.xml" Id="R40ec1019c8d44974" /><Relationship Type="http://schemas.openxmlformats.org/officeDocument/2006/relationships/slideLayout" Target="/ppt/slideLayouts/slideLayout7.xml" Id="R13af9884069c44d2" /><Relationship Type="http://schemas.openxmlformats.org/officeDocument/2006/relationships/slideLayout" Target="/ppt/slideLayouts/slideLayout8.xml" Id="R8db0de054d8c4f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16d5a422054d17"/>
    <p:sldLayoutId xmlns:r="http://schemas.openxmlformats.org/officeDocument/2006/relationships" id="2147483650" r:id="Re9a8d1df9cd24b22"/>
    <p:sldLayoutId xmlns:r="http://schemas.openxmlformats.org/officeDocument/2006/relationships" id="2147483651" r:id="R4ad53a701e0d4d72"/>
    <p:sldLayoutId xmlns:r="http://schemas.openxmlformats.org/officeDocument/2006/relationships" id="2147483652" r:id="Re256beeff7414c3d"/>
    <p:sldLayoutId xmlns:r="http://schemas.openxmlformats.org/officeDocument/2006/relationships" id="2147483653" r:id="R0cb83ace3df04dcf"/>
    <p:sldLayoutId xmlns:r="http://schemas.openxmlformats.org/officeDocument/2006/relationships" id="2147483654" r:id="R40ec1019c8d44974"/>
    <p:sldLayoutId xmlns:r="http://schemas.openxmlformats.org/officeDocument/2006/relationships" id="2147483655" r:id="R13af9884069c44d2"/>
    <p:sldLayoutId xmlns:r="http://schemas.openxmlformats.org/officeDocument/2006/relationships" id="2147483656" r:id="R8db0de054d8c4f9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bc6e8b3d543f9" /><Relationship Type="http://schemas.openxmlformats.org/officeDocument/2006/relationships/notesSlide" Target="/ppt/notesSlides/notesSlide1.xml" Id="R31273062b5574e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aae4d557004f0e" /><Relationship Type="http://schemas.openxmlformats.org/officeDocument/2006/relationships/notesSlide" Target="/ppt/notesSlides/notesSlide2.xml" Id="R0bfb623696c04d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ea953a7e7437a" /><Relationship Type="http://schemas.openxmlformats.org/officeDocument/2006/relationships/notesSlide" Target="/ppt/notesSlides/notesSlide3.xml" Id="Ra65676955dde47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108c598354e94" /><Relationship Type="http://schemas.openxmlformats.org/officeDocument/2006/relationships/image" Target="/ppt/media/image.png" Id="Re033ebff461f45c0" /><Relationship Type="http://schemas.openxmlformats.org/officeDocument/2006/relationships/notesSlide" Target="/ppt/notesSlides/notesSlide4.xml" Id="R65fa10c883414e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3a4dccc684976" /><Relationship Type="http://schemas.openxmlformats.org/officeDocument/2006/relationships/notesSlide" Target="/ppt/notesSlides/notesSlide5.xml" Id="Rc3667639b9a848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dec4de27a4c4a" /><Relationship Type="http://schemas.openxmlformats.org/officeDocument/2006/relationships/image" Target="/ppt/media/image2.png" Id="Rc8f0ea14a2f7437c" /><Relationship Type="http://schemas.openxmlformats.org/officeDocument/2006/relationships/notesSlide" Target="/ppt/notesSlides/notesSlide6.xml" Id="R2a122420b5b848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89841e2034c5f" /><Relationship Type="http://schemas.openxmlformats.org/officeDocument/2006/relationships/notesSlide" Target="/ppt/notesSlides/notesSlide7.xml" Id="R5333207a7cc14e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bf93dc3ba4df3" /><Relationship Type="http://schemas.openxmlformats.org/officeDocument/2006/relationships/notesSlide" Target="/ppt/notesSlides/notesSlide8.xml" Id="R5ff20e19df6f47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700">
                <a:latin typeface="Helvetica Neue"/>
                <a:ea typeface="Helvetica Neue"/>
                <a:cs typeface="Helvetica Neue"/>
              </a:rPr>
              <a:t>Accurate or interpretable? Exoplanet transit modelling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Authors: Bhavya Gondra, Akhil Muvvala, Milan Petrov, Harish Senthil, Ayan Sharma, Manav Sharma, Pranavan Sivaraman, Adhrit Somayajula, Srikanth Samy, Ishaan Gupta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250">
                <a:latin typeface="Helvetica Neue"/>
                <a:ea typeface="Helvetica Neue"/>
                <a:cs typeface="Helvetica Neue"/>
              </a:rPr>
              <a:t>ICAISE 2026 · CC5088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Detection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Does a light curve contain a transit? The primary endpoint is ROC-AUC.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Characterisation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What is the planet-to-star radius ratio? Here parameter accuracy and physical inspectability both matter.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 sz="1500"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Two tasks, two scientific objectives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Trade-off question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How much predictive performance is exchanged for additive-surrogate fidelity, a reproducible axis of interpretability?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Physics question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Can a differentiable transit model estimate radius from reconstruction alone, without ever seeing radius labels?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 sz="1500"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Compare models on a shared Pareto plane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DATA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Eight thousand simulated training segments and 3,000 disjoint tests with known parameters, plus 12 confirmed Kepler planets.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SCORING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Detection ROC-AUC or radius MAE, paired with additive-surrogate fidelity A for every model family.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PHYSICS-KAN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Infer transit parameters by reconstructing flux through a differentiable forward model—no radius labels used.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 sz="1500"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The trade-off is task-specific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Read the Pareto plane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On detection, full transparency costs only 0.029 AUC. On characterisation, the same move costs 85% more radius error.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The physics-KAN occupies a distinct middle ground: less additive, but physically structured and label-free.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3ebff461f45c0"/>
          <a:stretch xmlns:a="http://schemas.openxmlformats.org/drawingml/2006/main"/>
        </p:blipFill>
        <p:spPr>
          <a:xfrm xmlns:a="http://schemas.openxmlformats.org/drawingml/2006/main" flipH="0" flipV="0">
            <a:off x="6269040" y="2036139"/>
            <a:ext cx="5539740" cy="232261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 sz="1500"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Physics closes much of the label gap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best detection AUC; MLP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label-free radius MAE; 24% above best supervised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AUC cost of near-total transparency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0.975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0.029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0.0100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2100" b="1">
                <a:latin typeface="Helvetica Neue"/>
                <a:ea typeface="Helvetica Neue"/>
                <a:cs typeface="Helvetica Neue"/>
              </a:rPr>
              <a:t>Matched-simulation result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The MLP leads detection, while the label-free physics-KAN approaches the best supervised radius model. Synthetic performance benefits from a matched forward model.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 sz="1500"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Kepler reveals the reality gap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Zero-shot feasibility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Across 12 confirmed planets, full-sample radius-ratio MAE is 0.023—about 2.3× the synthetic error.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A residual screen improves MAE to 0.018 but rejects one of the best recovered planets, so residual is not accuracy.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0ea14a2f7437c"/>
          <a:stretch xmlns:a="http://schemas.openxmlformats.org/drawingml/2006/main"/>
        </p:blipFill>
        <p:spPr>
          <a:xfrm xmlns:a="http://schemas.openxmlformats.org/drawingml/2006/main" flipH="0" flipV="0">
            <a:off x="6269040" y="1879109"/>
            <a:ext cx="5539740" cy="263667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 sz="1500"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Conclusion: interpretability depends on the task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latin typeface="Helvetica Neue"/>
                <a:ea typeface="Helvetica Neue"/>
                <a:cs typeface="Helvetica Neue"/>
              </a:rPr>
              <a:t>What we did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FOUND · Transparency cost 0.029 detection AUC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25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We compared accuracy with additive-surrogate fidelity for transit detection and radius estimation, then built a label-free physics-KAN.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Physics-KAN reached 0.0100 synthetic radius MAE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WHY IT MATTERS · Physics can replace scarce labels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Kepler MAE rose to 0.023: simulation is not deployment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Treat 12 planets as feasibility evidence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Physics closes the label gap—</a:t>
            </a:r>
          </a:p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not the reality gap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Did: compared accuracy, interpretability, and physics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Found: 0.0100 synthetic vs 0.023 Kepler MAE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Matters: label-free does not mean reality-ready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025">
                <a:latin typeface="Helvetica Neue"/>
                <a:ea typeface="Helvetica Neue"/>
                <a:cs typeface="Helvetica Neue"/>
              </a:rPr>
              <a:t>CC5088 · Questions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2026-08-21T03:36:32.0340000Z</dcterms:created>
  <dcterms:modified xsi:type="dcterms:W3CDTF">2026-08-21T03:36:32.0340000Z</dcterms:modified>
</coreProperties>
</file>