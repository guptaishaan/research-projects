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58ddfb650e4ca2" /><Relationship Type="http://schemas.openxmlformats.org/officeDocument/2006/relationships/extended-properties" Target="/docProps/app.xml" Id="R9f483d0926e34e81" /><Relationship Type="http://schemas.openxmlformats.org/officeDocument/2006/relationships/officeDocument" Target="/ppt/presentation.xml" Id="R9a97debfb3e9436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ce61d19b4714131"/>
  </p:sldMasterIdLst>
  <p:notesMasterIdLst>
    <p:notesMasterId xmlns:r="http://schemas.openxmlformats.org/officeDocument/2006/relationships" r:id="Ra8dde2bb2dc748c5"/>
  </p:notesMasterIdLst>
  <p:sldIdLst>
    <p:sldId xmlns:r="http://schemas.openxmlformats.org/officeDocument/2006/relationships" id="256" r:id="R77cfe14e02614312"/>
    <p:sldId xmlns:r="http://schemas.openxmlformats.org/officeDocument/2006/relationships" id="257" r:id="R6c09bbdb0c174275"/>
    <p:sldId xmlns:r="http://schemas.openxmlformats.org/officeDocument/2006/relationships" id="258" r:id="Re0ae481f4d6f43c6"/>
    <p:sldId xmlns:r="http://schemas.openxmlformats.org/officeDocument/2006/relationships" id="259" r:id="Re781cd1c6fbe44f1"/>
    <p:sldId xmlns:r="http://schemas.openxmlformats.org/officeDocument/2006/relationships" id="260" r:id="Raa8d13af2cb64567"/>
    <p:sldId xmlns:r="http://schemas.openxmlformats.org/officeDocument/2006/relationships" id="261" r:id="R684991da72d749c7"/>
    <p:sldId xmlns:r="http://schemas.openxmlformats.org/officeDocument/2006/relationships" id="262" r:id="Rf0e16e8b7fb54262"/>
    <p:sldId xmlns:r="http://schemas.openxmlformats.org/officeDocument/2006/relationships" id="263" r:id="R2d9c345b3de048c9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58d4118ebc96429d"/>
      <p:bold xmlns:r="http://schemas.openxmlformats.org/officeDocument/2006/relationships" r:id="Rf604b17c632948ee"/>
      <p:italic xmlns:r="http://schemas.openxmlformats.org/officeDocument/2006/relationships" r:id="R7492806b1e694fd5"/>
      <p:boldItalic xmlns:r="http://schemas.openxmlformats.org/officeDocument/2006/relationships" r:id="R4d868f6bba67456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949442d4c946aa" /><Relationship Type="http://schemas.openxmlformats.org/officeDocument/2006/relationships/slideMaster" Target="/ppt/slideMasters/slideMaster1.xml" Id="R6ce61d19b4714131" /><Relationship Type="http://schemas.openxmlformats.org/officeDocument/2006/relationships/notesMaster" Target="/ppt/notesMasters/notesMaster1.xml" Id="Ra8dde2bb2dc748c5" /><Relationship Type="http://schemas.openxmlformats.org/officeDocument/2006/relationships/presProps" Target="/ppt/presProps.xml" Id="R46c5d2aec40c4600" /><Relationship Type="http://schemas.openxmlformats.org/officeDocument/2006/relationships/viewProps" Target="/ppt/viewProps.xml" Id="R87d789dbd0e34b96" /><Relationship Type="http://schemas.openxmlformats.org/officeDocument/2006/relationships/tableStyles" Target="/ppt/tableStyles.xml" Id="R0183d2331d114e8b" /><Relationship Type="http://schemas.openxmlformats.org/officeDocument/2006/relationships/font" Target="/ppt/fonts/font.dat" Id="R58d4118ebc96429d" /><Relationship Type="http://schemas.openxmlformats.org/officeDocument/2006/relationships/font" Target="/ppt/fonts/font2.dat" Id="Rf604b17c632948ee" /><Relationship Type="http://schemas.openxmlformats.org/officeDocument/2006/relationships/font" Target="/ppt/fonts/font3.dat" Id="R7492806b1e694fd5" /><Relationship Type="http://schemas.openxmlformats.org/officeDocument/2006/relationships/font" Target="/ppt/fonts/font4.dat" Id="R4d868f6bba674566" /><Relationship Type="http://schemas.openxmlformats.org/officeDocument/2006/relationships/slide" Target="/ppt/slides/slide1.xml" Id="R77cfe14e02614312" /><Relationship Type="http://schemas.openxmlformats.org/officeDocument/2006/relationships/slide" Target="/ppt/slides/slide2.xml" Id="R6c09bbdb0c174275" /><Relationship Type="http://schemas.openxmlformats.org/officeDocument/2006/relationships/slide" Target="/ppt/slides/slide3.xml" Id="Re0ae481f4d6f43c6" /><Relationship Type="http://schemas.openxmlformats.org/officeDocument/2006/relationships/slide" Target="/ppt/slides/slide4.xml" Id="Re781cd1c6fbe44f1" /><Relationship Type="http://schemas.openxmlformats.org/officeDocument/2006/relationships/slide" Target="/ppt/slides/slide5.xml" Id="Raa8d13af2cb64567" /><Relationship Type="http://schemas.openxmlformats.org/officeDocument/2006/relationships/slide" Target="/ppt/slides/slide6.xml" Id="R684991da72d749c7" /><Relationship Type="http://schemas.openxmlformats.org/officeDocument/2006/relationships/slide" Target="/ppt/slides/slide7.xml" Id="Rf0e16e8b7fb54262" /><Relationship Type="http://schemas.openxmlformats.org/officeDocument/2006/relationships/slide" Target="/ppt/slides/slide8.xml" Id="R2d9c345b3de048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1bc0f32ac3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32b3e85c24b64" /><Relationship Type="http://schemas.openxmlformats.org/officeDocument/2006/relationships/notesMaster" Target="/ppt/notesMasters/notesMaster1.xml" Id="R778f3d3916b848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2afb8943bf4406" /><Relationship Type="http://schemas.openxmlformats.org/officeDocument/2006/relationships/notesMaster" Target="/ppt/notesMasters/notesMaster1.xml" Id="Ree2496f71e3641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cd5796c6dd4cc1" /><Relationship Type="http://schemas.openxmlformats.org/officeDocument/2006/relationships/notesMaster" Target="/ppt/notesMasters/notesMaster1.xml" Id="R87a6112832f24f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59a6c1e9eb4a78" /><Relationship Type="http://schemas.openxmlformats.org/officeDocument/2006/relationships/notesMaster" Target="/ppt/notesMasters/notesMaster1.xml" Id="R77f636b2da334e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81d87826ba40cc" /><Relationship Type="http://schemas.openxmlformats.org/officeDocument/2006/relationships/notesMaster" Target="/ppt/notesMasters/notesMaster1.xml" Id="R1965855721da43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5289b79f2e4f50" /><Relationship Type="http://schemas.openxmlformats.org/officeDocument/2006/relationships/notesMaster" Target="/ppt/notesMasters/notesMaster1.xml" Id="Rfcf0e1381a094e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61391d9d474eea" /><Relationship Type="http://schemas.openxmlformats.org/officeDocument/2006/relationships/notesMaster" Target="/ppt/notesMasters/notesMaster1.xml" Id="R3ab67a008ff340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c0851bfd6047c9" /><Relationship Type="http://schemas.openxmlformats.org/officeDocument/2006/relationships/notesMaster" Target="/ppt/notesMasters/notesMaster1.xml" Id="R44442686f1c04a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question. The official paper title is: Does a Bankruptcy Model Trained in Calm Times Survive a Recession? A Temporal Stress Test on U.S. Public Firms. Credit every author listed on the slide.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/private/tmp/research-projects-icaise-read/papers/bankruptcy-stress-test/main.pdf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problem before introducing models. State the specific research question and the criterion that makes the answer defensible.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/private/tmp/research-projects-icaise-read/papers/bankruptcy-stress-test/main.pdf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left to right: data, validation boundary, then models or analysis. Emphasize the unit that is held out.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/private/tmp/research-projects-icaise-read/papers/bankruptcy-stress-test/main.pdf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figure to explain why the study design matters. Describe the visual pattern first, then interpret 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/private/tmp/research-projects-icaise-read/papers/bankruptcy-stress-test/main.pdf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/private/tmp/research-projects-icaise-read/papers/bankruptcy-stress-test/figures/fig1_class_balance.pdf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three headline values. Explain the strongest supported claim and avoid turning descriptive differences into stronger causal or statistical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/private/tmp/research-projects-icaise-read/papers/bankruptcy-stress-test/main.pdf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second figure to connect the numeric result to the paper's central methodological lesson.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/private/tmp/research-projects-icaise-read/papers/bankruptcy-stress-test/main.pdf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/private/tmp/research-projects-icaise-read/papers/bankruptcy-stress-test/figures/fig3_stress_test.pdf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conclusion in three steps: what we did, what we found, and why the result matters. End with the next experiment or validation step that would strengthen the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/private/tmp/research-projects-icaise-read/papers/bankruptcy-stress-test/main.pdf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Summarize what was done, the main finding, and its importance in three short sentences, then invite questions.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/private/tmp/research-projects-icaise-read/papers/bankruptcy-stress-test/main.pdf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7abdf390d4a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7874361784f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283b397f54a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1ae6d2fa64f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b75cebf62640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730ca461840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14d23db1c475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dccd0271174b6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e5add959054762" /><Relationship Type="http://schemas.openxmlformats.org/officeDocument/2006/relationships/slideLayout" Target="/ppt/slideLayouts/slideLayout1.xml" Id="Rdc95993fbcf64741" /><Relationship Type="http://schemas.openxmlformats.org/officeDocument/2006/relationships/slideLayout" Target="/ppt/slideLayouts/slideLayout2.xml" Id="R70c62fc9f0384b13" /><Relationship Type="http://schemas.openxmlformats.org/officeDocument/2006/relationships/slideLayout" Target="/ppt/slideLayouts/slideLayout3.xml" Id="Rd13d607d08b34462" /><Relationship Type="http://schemas.openxmlformats.org/officeDocument/2006/relationships/slideLayout" Target="/ppt/slideLayouts/slideLayout4.xml" Id="Rfd5c256f874f4218" /><Relationship Type="http://schemas.openxmlformats.org/officeDocument/2006/relationships/slideLayout" Target="/ppt/slideLayouts/slideLayout5.xml" Id="Re2b0235ba5ff425e" /><Relationship Type="http://schemas.openxmlformats.org/officeDocument/2006/relationships/slideLayout" Target="/ppt/slideLayouts/slideLayout6.xml" Id="Rf6cd77b48aa7423d" /><Relationship Type="http://schemas.openxmlformats.org/officeDocument/2006/relationships/slideLayout" Target="/ppt/slideLayouts/slideLayout7.xml" Id="R05a70c8ea1b747a8" /><Relationship Type="http://schemas.openxmlformats.org/officeDocument/2006/relationships/slideLayout" Target="/ppt/slideLayouts/slideLayout8.xml" Id="R6ad7d09a582b48e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95993fbcf64741"/>
    <p:sldLayoutId xmlns:r="http://schemas.openxmlformats.org/officeDocument/2006/relationships" id="2147483650" r:id="R70c62fc9f0384b13"/>
    <p:sldLayoutId xmlns:r="http://schemas.openxmlformats.org/officeDocument/2006/relationships" id="2147483651" r:id="Rd13d607d08b34462"/>
    <p:sldLayoutId xmlns:r="http://schemas.openxmlformats.org/officeDocument/2006/relationships" id="2147483652" r:id="Rfd5c256f874f4218"/>
    <p:sldLayoutId xmlns:r="http://schemas.openxmlformats.org/officeDocument/2006/relationships" id="2147483653" r:id="Re2b0235ba5ff425e"/>
    <p:sldLayoutId xmlns:r="http://schemas.openxmlformats.org/officeDocument/2006/relationships" id="2147483654" r:id="Rf6cd77b48aa7423d"/>
    <p:sldLayoutId xmlns:r="http://schemas.openxmlformats.org/officeDocument/2006/relationships" id="2147483655" r:id="R05a70c8ea1b747a8"/>
    <p:sldLayoutId xmlns:r="http://schemas.openxmlformats.org/officeDocument/2006/relationships" id="2147483656" r:id="R6ad7d09a582b48e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dbe34847744c5" /><Relationship Type="http://schemas.openxmlformats.org/officeDocument/2006/relationships/notesSlide" Target="/ppt/notesSlides/notesSlide1.xml" Id="R414cb0ef7b1a4c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163c089eec4ae8" /><Relationship Type="http://schemas.openxmlformats.org/officeDocument/2006/relationships/notesSlide" Target="/ppt/notesSlides/notesSlide2.xml" Id="Rb0001fe3fc474f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12ea541654550" /><Relationship Type="http://schemas.openxmlformats.org/officeDocument/2006/relationships/notesSlide" Target="/ppt/notesSlides/notesSlide3.xml" Id="Rde3b7ad10cae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b45bea428481d" /><Relationship Type="http://schemas.openxmlformats.org/officeDocument/2006/relationships/image" Target="/ppt/media/image.png" Id="Rdbf2fe72df464a13" /><Relationship Type="http://schemas.openxmlformats.org/officeDocument/2006/relationships/notesSlide" Target="/ppt/notesSlides/notesSlide4.xml" Id="Rc958b7a672de4b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e85199229479e" /><Relationship Type="http://schemas.openxmlformats.org/officeDocument/2006/relationships/notesSlide" Target="/ppt/notesSlides/notesSlide5.xml" Id="Rd6da348f821c4a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29aee381347f4" /><Relationship Type="http://schemas.openxmlformats.org/officeDocument/2006/relationships/image" Target="/ppt/media/image2.png" Id="R1a2cff6ba9c94b1e" /><Relationship Type="http://schemas.openxmlformats.org/officeDocument/2006/relationships/notesSlide" Target="/ppt/notesSlides/notesSlide6.xml" Id="R087c91bbdce542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0174879784ac3" /><Relationship Type="http://schemas.openxmlformats.org/officeDocument/2006/relationships/notesSlide" Target="/ppt/notesSlides/notesSlide7.xml" Id="R0a2883f841bb44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9fe9287db4b04" /><Relationship Type="http://schemas.openxmlformats.org/officeDocument/2006/relationships/notesSlide" Target="/ppt/notesSlides/notesSlide8.xml" Id="R7c84f2d5797241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700">
                <a:latin typeface="Helvetica Neue"/>
                <a:ea typeface="Helvetica Neue"/>
                <a:cs typeface="Helvetica Neue"/>
              </a:rPr>
              <a:t>Can a calm-era bankruptcy model survive a recession?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Authors: Ayush Bodalia, Vishruth Burra, Arnav Deokule, Shravan Ginde, Sahasra Namburu, Kavindran Rajangam, Sreehaas Voruganti, Srikanth Samy, Ishaan Gupta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250">
                <a:latin typeface="Helvetica Neue"/>
                <a:ea typeface="Helvetica Neue"/>
                <a:cs typeface="Helvetica Neue"/>
              </a:rPr>
              <a:t>ICAISE 2026 · CC5089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The deployment mismatch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Bankruptcy models are trained on past financial statements but used in new economic regimes. A recession changes base rates, firm behavior, and the meaning of risk scores.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A misleading shortcut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A year-by-year AUC curve can mix training rows into evaluation and manufacture a fake crisis cliff.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 sz="1500"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Why temporal robustness matters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Research question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Freeze models trained on calm years. Do they still rank imminent failures during the 2008–2009 recession?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Success criterion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Preserved leakage-free ROC-AUC—not a higher crisis PR-AUC caused mechanically by a doubled failure rate.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 sz="1500"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A leakage-free temporal stress test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DATA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78,682 U.S. public-company years, 1999–2018. Eighteen accounting variables become 15 financial ratios; 609 rows are imminent failures.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VALIDATION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Train on 1999–2006 with a company-grouped split. Freeze the pipeline, exclude 2007, and test on 2008–2009.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MODELS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Logistic regression, random forest, and MLP. Primary endpoint: ROC-AUC, with PR-AUC and confidence intervals.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 sz="1500"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Audit the rare-event target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Rare events define the evaluation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The imminent-failure construction leaves only 609 positives—0.82% of company-years—after removing non-final failed-firm records.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Leakage control and ranking metrics are therefore essential; raw accuracy would conceal the task.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2fe72df464a13"/>
          <a:stretch xmlns:a="http://schemas.openxmlformats.org/drawingml/2006/main"/>
        </p:blipFill>
        <p:spPr>
          <a:xfrm xmlns:a="http://schemas.openxmlformats.org/drawingml/2006/main" flipH="0" flipV="0">
            <a:off x="6269040" y="2177910"/>
            <a:ext cx="5539740" cy="203906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500"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The forest preserves its ranking power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calm-era random-forest ROC-AUC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calm-era PR-AUC; about 3× no-skill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recession ROC-AUC; Δ = +0.042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0.755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0.798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0.020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2100" b="1">
                <a:latin typeface="Helvetica Neue"/>
                <a:ea typeface="Helvetica Neue"/>
                <a:cs typeface="Helvetica Neue"/>
              </a:rPr>
              <a:t>Supported result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The random forest captured a nonlinear distress boundary and retained discrimination under the regime shift. Overlapping 95% intervals support preservation, not proven improvement.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 sz="1500"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What survives the recession?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One model holds up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Logistic regression and the MLP fall, while the forest rises from 0.755 to 0.798.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Because the intervals overlap, the defensible claim is resilience—not that recessions improve the model.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cff6ba9c94b1e"/>
          <a:stretch xmlns:a="http://schemas.openxmlformats.org/drawingml/2006/main"/>
        </p:blipFill>
        <p:spPr>
          <a:xfrm xmlns:a="http://schemas.openxmlformats.org/drawingml/2006/main" flipH="0" flipV="0">
            <a:off x="6269040" y="2052609"/>
            <a:ext cx="5539740" cy="228967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 sz="1500"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Conclusion: test the regime, then recalibrate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latin typeface="Helvetica Neue"/>
                <a:ea typeface="Helvetica Neue"/>
                <a:cs typeface="Helvetica Neue"/>
              </a:rPr>
              <a:t>What we did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FOUND · The random forest held its ranking power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25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 trained three bankruptcy classifiers on 1999–2006 company data, froze the pipeline, and stress-tested them on the 2008–2009 recession.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0.755 → 0.798 ROC-AUC; intervals overlap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WHY IT MATTERS · Ranking can survive while thresholds fail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Recalibrate scores when the base rate shifts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Claim resilience—not improvement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The model survived—</a:t>
            </a:r>
          </a:p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the threshold did not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Did: calm-era training → recession test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Found: forest ROC-AUC 0.755 → 0.798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Matters: recalibrate thresholds after shift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25">
                <a:latin typeface="Helvetica Neue"/>
                <a:ea typeface="Helvetica Neue"/>
                <a:cs typeface="Helvetica Neue"/>
              </a:rPr>
              <a:t>CC5089 · Questions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2026-08-21T03:36:28.1890000Z</dcterms:created>
  <dcterms:modified xsi:type="dcterms:W3CDTF">2026-08-21T03:36:28.1890000Z</dcterms:modified>
</coreProperties>
</file>